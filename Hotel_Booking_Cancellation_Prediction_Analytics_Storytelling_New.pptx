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3333413" cy="749935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333333" cy="75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7131D">
              <a:alpha val="4196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/>
              <a:t>Presented by:</a:t>
            </a:r>
          </a:p>
          <a:p>
            <a:r>
              <a:rPr lang="en-US" sz="1800"/>
              <a:t>Momodu Sadiq Favour</a:t>
            </a:r>
          </a:p>
        </p:txBody>
      </p:sp>
      <p:sp>
        <p:nvSpPr>
          <p:cNvPr id="13" name="Google Shape;13;p3"/>
          <p:cNvSpPr txBox="1"/>
          <p:nvPr/>
        </p:nvSpPr>
        <p:spPr>
          <a:xfrm>
            <a:off x="658368" y="1444752"/>
            <a:ext cx="66751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Hotel Booking</a:t>
            </a:r>
          </a:p>
          <a:p>
            <a:r>
              <a:rPr lang="en-US" sz="3600" b="1">
                <a:solidFill>
                  <a:srgbClr val="FFFFFF"/>
                </a:solidFill>
              </a:rPr>
              <a:t>Cancellation Risk Prediction</a:t>
            </a:r>
          </a:p>
        </p:txBody>
      </p:sp>
      <p:sp>
        <p:nvSpPr>
          <p:cNvPr id="14" name="Google Shape;14;p3"/>
          <p:cNvSpPr txBox="1"/>
          <p:nvPr/>
        </p:nvSpPr>
        <p:spPr>
          <a:xfrm>
            <a:off x="713232" y="2880360"/>
            <a:ext cx="6035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500" b="0">
                <a:solidFill>
                  <a:srgbClr val="E8F1F5"/>
                </a:solidFill>
              </a:rPr>
              <a:t>Machine Learning Analytics for Revenue and Occupancy Planning</a:t>
            </a:r>
          </a:p>
        </p:txBody>
      </p:sp>
      <p:sp>
        <p:nvSpPr>
          <p:cNvPr id="15" name="Google Shape;15;p3"/>
          <p:cNvSpPr/>
          <p:nvPr/>
        </p:nvSpPr>
        <p:spPr>
          <a:xfrm>
            <a:off x="7699248" y="475488"/>
            <a:ext cx="1170432" cy="713232"/>
          </a:xfrm>
          <a:prstGeom prst="roundRect">
            <a:avLst>
              <a:gd name="adj" fmla="val 16667"/>
            </a:avLst>
          </a:prstGeom>
          <a:solidFill>
            <a:srgbClr val="FFFFFF">
              <a:alpha val="16470"/>
            </a:srgbClr>
          </a:solidFill>
          <a:ln w="12700" cap="flat" cmpd="sng">
            <a:solidFill>
              <a:srgbClr val="7890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3"/>
          <p:cNvSpPr txBox="1"/>
          <p:nvPr/>
        </p:nvSpPr>
        <p:spPr>
          <a:xfrm>
            <a:off x="7772400" y="585216"/>
            <a:ext cx="1024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700" b="0">
                <a:solidFill>
                  <a:srgbClr val="E8F1F5"/>
                </a:solidFill>
              </a:rPr>
              <a:t>Test Accuracy</a:t>
            </a:r>
          </a:p>
        </p:txBody>
      </p:sp>
      <p:sp>
        <p:nvSpPr>
          <p:cNvPr id="17" name="Google Shape;17;p3"/>
          <p:cNvSpPr txBox="1"/>
          <p:nvPr/>
        </p:nvSpPr>
        <p:spPr>
          <a:xfrm>
            <a:off x="7772400" y="804672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6C85F"/>
                </a:solidFill>
              </a:rPr>
              <a:t>88%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034272" y="475488"/>
            <a:ext cx="1170432" cy="713232"/>
          </a:xfrm>
          <a:prstGeom prst="roundRect">
            <a:avLst>
              <a:gd name="adj" fmla="val 16667"/>
            </a:avLst>
          </a:prstGeom>
          <a:solidFill>
            <a:srgbClr val="FFFFFF">
              <a:alpha val="16470"/>
            </a:srgbClr>
          </a:solidFill>
          <a:ln w="12700" cap="flat" cmpd="sng">
            <a:solidFill>
              <a:srgbClr val="7890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" name="Google Shape;19;p3"/>
          <p:cNvSpPr txBox="1"/>
          <p:nvPr/>
        </p:nvSpPr>
        <p:spPr>
          <a:xfrm>
            <a:off x="9107424" y="585216"/>
            <a:ext cx="1024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700" b="0">
                <a:solidFill>
                  <a:srgbClr val="E8F1F5"/>
                </a:solidFill>
              </a:rPr>
              <a:t>ROC-AUC</a:t>
            </a:r>
          </a:p>
        </p:txBody>
      </p:sp>
      <p:sp>
        <p:nvSpPr>
          <p:cNvPr id="20" name="Google Shape;20;p3"/>
          <p:cNvSpPr txBox="1"/>
          <p:nvPr/>
        </p:nvSpPr>
        <p:spPr>
          <a:xfrm>
            <a:off x="9107424" y="804672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6C85F"/>
                </a:solidFill>
              </a:rPr>
              <a:t>0.94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369296" y="475488"/>
            <a:ext cx="1170432" cy="713232"/>
          </a:xfrm>
          <a:prstGeom prst="roundRect">
            <a:avLst>
              <a:gd name="adj" fmla="val 16667"/>
            </a:avLst>
          </a:prstGeom>
          <a:solidFill>
            <a:srgbClr val="FFFFFF">
              <a:alpha val="16470"/>
            </a:srgbClr>
          </a:solidFill>
          <a:ln w="12700" cap="flat" cmpd="sng">
            <a:solidFill>
              <a:srgbClr val="7890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" name="Google Shape;22;p3"/>
          <p:cNvSpPr txBox="1"/>
          <p:nvPr/>
        </p:nvSpPr>
        <p:spPr>
          <a:xfrm>
            <a:off x="10442448" y="585216"/>
            <a:ext cx="1024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700" b="0">
                <a:solidFill>
                  <a:srgbClr val="E8F1F5"/>
                </a:solidFill>
              </a:rPr>
              <a:t>Best Model</a:t>
            </a:r>
          </a:p>
        </p:txBody>
      </p:sp>
      <p:sp>
        <p:nvSpPr>
          <p:cNvPr id="23" name="Google Shape;23;p3"/>
          <p:cNvSpPr txBox="1"/>
          <p:nvPr/>
        </p:nvSpPr>
        <p:spPr>
          <a:xfrm>
            <a:off x="10442448" y="804672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6C85F"/>
                </a:solidFill>
              </a:rPr>
              <a:t>Random Forest</a:t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 rot="-597">
            <a:off x="690959" y="5818905"/>
            <a:ext cx="1209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Presented by:</a:t>
            </a:r>
          </a:p>
          <a:p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Momodu Sadiq Favour</a:t>
            </a:r>
          </a:p>
        </p:txBody>
      </p:sp>
      <p:sp>
        <p:nvSpPr>
          <p:cNvPr id="25" name="Google Shape;25;p3"/>
          <p:cNvSpPr txBox="1"/>
          <p:nvPr/>
        </p:nvSpPr>
        <p:spPr>
          <a:xfrm>
            <a:off x="6691175" y="6132350"/>
            <a:ext cx="665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/>
        </p:nvSpPr>
        <p:spPr>
          <a:xfrm>
            <a:off x="457200" y="256032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>
                <a:solidFill>
                  <a:srgbClr val="102A43"/>
                </a:solidFill>
              </a:rPr>
              <a:t>Business Problem: Cancellations Erode Revenue Certainty</a:t>
            </a:r>
          </a:p>
        </p:txBody>
      </p:sp>
      <p:sp>
        <p:nvSpPr>
          <p:cNvPr id="31" name="Google Shape;31;p4"/>
          <p:cNvSpPr txBox="1"/>
          <p:nvPr/>
        </p:nvSpPr>
        <p:spPr>
          <a:xfrm>
            <a:off x="468217" y="106742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50" b="1" dirty="0">
                <a:solidFill>
                  <a:srgbClr val="5B6673"/>
                </a:solidFill>
              </a:rPr>
              <a:t>Cancelled bookings reduce revenue visibility, leave rooms unsold, and make daily hotel planning harder.</a:t>
            </a:r>
          </a:p>
        </p:txBody>
      </p:sp>
      <p:sp>
        <p:nvSpPr>
          <p:cNvPr id="32" name="Google Shape;32;p4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" name="Google Shape;33;p4"/>
          <p:cNvSpPr/>
          <p:nvPr/>
        </p:nvSpPr>
        <p:spPr>
          <a:xfrm>
            <a:off x="594360" y="1508760"/>
            <a:ext cx="233172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" name="Google Shape;34;p4"/>
          <p:cNvSpPr/>
          <p:nvPr/>
        </p:nvSpPr>
        <p:spPr>
          <a:xfrm>
            <a:off x="594360" y="1508760"/>
            <a:ext cx="73152" cy="14173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" name="Google Shape;35;p4"/>
          <p:cNvSpPr txBox="1"/>
          <p:nvPr/>
        </p:nvSpPr>
        <p:spPr>
          <a:xfrm>
            <a:off x="777240" y="165506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High cancellation exposure</a:t>
            </a:r>
          </a:p>
        </p:txBody>
      </p:sp>
      <p:sp>
        <p:nvSpPr>
          <p:cNvPr id="36" name="Google Shape;36;p4"/>
          <p:cNvSpPr txBox="1"/>
          <p:nvPr/>
        </p:nvSpPr>
        <p:spPr>
          <a:xfrm>
            <a:off x="777240" y="2171316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Revenue leakage</a:t>
            </a:r>
          </a:p>
        </p:txBody>
      </p:sp>
      <p:sp>
        <p:nvSpPr>
          <p:cNvPr id="37" name="Google Shape;37;p4"/>
          <p:cNvSpPr/>
          <p:nvPr/>
        </p:nvSpPr>
        <p:spPr>
          <a:xfrm>
            <a:off x="3383279" y="1508760"/>
            <a:ext cx="233172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" name="Google Shape;38;p4"/>
          <p:cNvSpPr/>
          <p:nvPr/>
        </p:nvSpPr>
        <p:spPr>
          <a:xfrm>
            <a:off x="3383279" y="1508760"/>
            <a:ext cx="73152" cy="1417320"/>
          </a:xfrm>
          <a:prstGeom prst="roundRect">
            <a:avLst>
              <a:gd name="adj" fmla="val 16667"/>
            </a:avLst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" name="Google Shape;39;p4"/>
          <p:cNvSpPr txBox="1"/>
          <p:nvPr/>
        </p:nvSpPr>
        <p:spPr>
          <a:xfrm>
            <a:off x="3566159" y="165506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Late demand shocks</a:t>
            </a:r>
          </a:p>
        </p:txBody>
      </p:sp>
      <p:sp>
        <p:nvSpPr>
          <p:cNvPr id="40" name="Google Shape;40;p4"/>
          <p:cNvSpPr txBox="1"/>
          <p:nvPr/>
        </p:nvSpPr>
        <p:spPr>
          <a:xfrm>
            <a:off x="3566159" y="2149282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Unsold room nights</a:t>
            </a:r>
          </a:p>
        </p:txBody>
      </p:sp>
      <p:sp>
        <p:nvSpPr>
          <p:cNvPr id="41" name="Google Shape;41;p4"/>
          <p:cNvSpPr/>
          <p:nvPr/>
        </p:nvSpPr>
        <p:spPr>
          <a:xfrm>
            <a:off x="6172200" y="1508760"/>
            <a:ext cx="233172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" name="Google Shape;42;p4"/>
          <p:cNvSpPr/>
          <p:nvPr/>
        </p:nvSpPr>
        <p:spPr>
          <a:xfrm>
            <a:off x="6172200" y="1508760"/>
            <a:ext cx="73152" cy="141732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" name="Google Shape;43;p4"/>
          <p:cNvSpPr txBox="1"/>
          <p:nvPr/>
        </p:nvSpPr>
        <p:spPr>
          <a:xfrm>
            <a:off x="6355080" y="165506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Weak occupancy forecasts</a:t>
            </a:r>
          </a:p>
        </p:txBody>
      </p:sp>
      <p:sp>
        <p:nvSpPr>
          <p:cNvPr id="44" name="Google Shape;44;p4"/>
          <p:cNvSpPr txBox="1"/>
          <p:nvPr/>
        </p:nvSpPr>
        <p:spPr>
          <a:xfrm>
            <a:off x="6355080" y="2149282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Operational inefficiency</a:t>
            </a:r>
          </a:p>
        </p:txBody>
      </p:sp>
      <p:sp>
        <p:nvSpPr>
          <p:cNvPr id="45" name="Google Shape;45;p4"/>
          <p:cNvSpPr/>
          <p:nvPr/>
        </p:nvSpPr>
        <p:spPr>
          <a:xfrm>
            <a:off x="8961119" y="1508760"/>
            <a:ext cx="233172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" name="Google Shape;46;p4"/>
          <p:cNvSpPr/>
          <p:nvPr/>
        </p:nvSpPr>
        <p:spPr>
          <a:xfrm>
            <a:off x="8961119" y="1508760"/>
            <a:ext cx="73152" cy="141732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" name="Google Shape;47;p4"/>
          <p:cNvSpPr txBox="1"/>
          <p:nvPr/>
        </p:nvSpPr>
        <p:spPr>
          <a:xfrm>
            <a:off x="9143999" y="165506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Uncertain staffing needs</a:t>
            </a:r>
          </a:p>
        </p:txBody>
      </p:sp>
      <p:sp>
        <p:nvSpPr>
          <p:cNvPr id="48" name="Google Shape;48;p4"/>
          <p:cNvSpPr txBox="1"/>
          <p:nvPr/>
        </p:nvSpPr>
        <p:spPr>
          <a:xfrm>
            <a:off x="9143999" y="2127248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5B6673"/>
                </a:solidFill>
              </a:rPr>
              <a:t>Riskier overbooking decisions</a:t>
            </a:r>
          </a:p>
        </p:txBody>
      </p:sp>
      <p:sp>
        <p:nvSpPr>
          <p:cNvPr id="49" name="Google Shape;49;p4"/>
          <p:cNvSpPr/>
          <p:nvPr/>
        </p:nvSpPr>
        <p:spPr>
          <a:xfrm>
            <a:off x="1280160" y="3657600"/>
            <a:ext cx="9601200" cy="150876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" name="Google Shape;50;p4"/>
          <p:cNvSpPr txBox="1"/>
          <p:nvPr/>
        </p:nvSpPr>
        <p:spPr>
          <a:xfrm>
            <a:off x="1828800" y="3895344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6C85F"/>
                </a:solidFill>
              </a:rPr>
              <a:t>32.8%</a:t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4160520" y="3986784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Nearly 1 in 3 bookings were cancelled, creating material risk for occupancy and expected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/>
        </p:nvSpPr>
        <p:spPr>
          <a:xfrm>
            <a:off x="457200" y="256032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>
                <a:solidFill>
                  <a:srgbClr val="102A43"/>
                </a:solidFill>
              </a:rPr>
              <a:t>Project Objective: Predict Risk Early Enough to Act</a:t>
            </a:r>
          </a:p>
        </p:txBody>
      </p:sp>
      <p:sp>
        <p:nvSpPr>
          <p:cNvPr id="57" name="Google Shape;57;p5"/>
          <p:cNvSpPr txBox="1"/>
          <p:nvPr/>
        </p:nvSpPr>
        <p:spPr>
          <a:xfrm>
            <a:off x="475488" y="75895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Build a model that flags likely cancellations and turns booking data into practical revenue decisions.</a:t>
            </a:r>
          </a:p>
        </p:txBody>
      </p:sp>
      <p:sp>
        <p:nvSpPr>
          <p:cNvPr id="58" name="Google Shape;58;p5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" name="Google Shape;59;p5"/>
          <p:cNvSpPr/>
          <p:nvPr/>
        </p:nvSpPr>
        <p:spPr>
          <a:xfrm>
            <a:off x="731520" y="1463040"/>
            <a:ext cx="3063240" cy="150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" name="Google Shape;60;p5"/>
          <p:cNvSpPr/>
          <p:nvPr/>
        </p:nvSpPr>
        <p:spPr>
          <a:xfrm>
            <a:off x="731520" y="1463040"/>
            <a:ext cx="73152" cy="150876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" name="Google Shape;61;p5"/>
          <p:cNvSpPr txBox="1"/>
          <p:nvPr/>
        </p:nvSpPr>
        <p:spPr>
          <a:xfrm>
            <a:off x="914400" y="160934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Predict cancellation risk</a:t>
            </a:r>
          </a:p>
        </p:txBody>
      </p:sp>
      <p:sp>
        <p:nvSpPr>
          <p:cNvPr id="62" name="Google Shape;62;p5"/>
          <p:cNvSpPr txBox="1"/>
          <p:nvPr/>
        </p:nvSpPr>
        <p:spPr>
          <a:xfrm>
            <a:off x="914400" y="1993392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50" b="1" dirty="0">
                <a:solidFill>
                  <a:srgbClr val="5B6673"/>
                </a:solidFill>
              </a:rPr>
              <a:t>Flag bookings most likely to cancel before arrival.</a:t>
            </a:r>
          </a:p>
        </p:txBody>
      </p:sp>
      <p:sp>
        <p:nvSpPr>
          <p:cNvPr id="63" name="Google Shape;63;p5"/>
          <p:cNvSpPr/>
          <p:nvPr/>
        </p:nvSpPr>
        <p:spPr>
          <a:xfrm>
            <a:off x="4434840" y="1463040"/>
            <a:ext cx="3063240" cy="150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4" name="Google Shape;64;p5"/>
          <p:cNvSpPr/>
          <p:nvPr/>
        </p:nvSpPr>
        <p:spPr>
          <a:xfrm>
            <a:off x="4434840" y="1463040"/>
            <a:ext cx="73152" cy="150876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5" name="Google Shape;65;p5"/>
          <p:cNvSpPr txBox="1"/>
          <p:nvPr/>
        </p:nvSpPr>
        <p:spPr>
          <a:xfrm>
            <a:off x="4617720" y="160934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Explain risk drivers</a:t>
            </a:r>
          </a:p>
        </p:txBody>
      </p:sp>
      <p:sp>
        <p:nvSpPr>
          <p:cNvPr id="66" name="Google Shape;66;p5"/>
          <p:cNvSpPr txBox="1"/>
          <p:nvPr/>
        </p:nvSpPr>
        <p:spPr>
          <a:xfrm>
            <a:off x="4617720" y="1993392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50" b="1" dirty="0">
                <a:solidFill>
                  <a:srgbClr val="5B6673"/>
                </a:solidFill>
              </a:rPr>
              <a:t>Identify which booking signals influence cancellation behavior.</a:t>
            </a:r>
          </a:p>
        </p:txBody>
      </p:sp>
      <p:sp>
        <p:nvSpPr>
          <p:cNvPr id="67" name="Google Shape;67;p5"/>
          <p:cNvSpPr/>
          <p:nvPr/>
        </p:nvSpPr>
        <p:spPr>
          <a:xfrm>
            <a:off x="8138160" y="1463040"/>
            <a:ext cx="3063240" cy="150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" name="Google Shape;68;p5"/>
          <p:cNvSpPr/>
          <p:nvPr/>
        </p:nvSpPr>
        <p:spPr>
          <a:xfrm>
            <a:off x="8138160" y="1463040"/>
            <a:ext cx="73152" cy="1508760"/>
          </a:xfrm>
          <a:prstGeom prst="roundRect">
            <a:avLst>
              <a:gd name="adj" fmla="val 16667"/>
            </a:avLst>
          </a:prstGeom>
          <a:solidFill>
            <a:srgbClr val="2EAD6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9" name="Google Shape;69;p5"/>
          <p:cNvSpPr txBox="1"/>
          <p:nvPr/>
        </p:nvSpPr>
        <p:spPr>
          <a:xfrm>
            <a:off x="8321040" y="160934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Support hotel actions</a:t>
            </a:r>
          </a:p>
        </p:txBody>
      </p:sp>
      <p:sp>
        <p:nvSpPr>
          <p:cNvPr id="70" name="Google Shape;70;p5"/>
          <p:cNvSpPr txBox="1"/>
          <p:nvPr/>
        </p:nvSpPr>
        <p:spPr>
          <a:xfrm>
            <a:off x="8321040" y="1993392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50" b="1" dirty="0">
                <a:solidFill>
                  <a:srgbClr val="5B6673"/>
                </a:solidFill>
              </a:rPr>
              <a:t>Improve occupancy planning, interventions, and overbooking choices.</a:t>
            </a:r>
          </a:p>
        </p:txBody>
      </p:sp>
      <p:sp>
        <p:nvSpPr>
          <p:cNvPr id="71" name="Google Shape;71;p5"/>
          <p:cNvSpPr/>
          <p:nvPr/>
        </p:nvSpPr>
        <p:spPr>
          <a:xfrm>
            <a:off x="960120" y="4160520"/>
            <a:ext cx="169164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" name="Google Shape;72;p5"/>
          <p:cNvSpPr txBox="1"/>
          <p:nvPr/>
        </p:nvSpPr>
        <p:spPr>
          <a:xfrm>
            <a:off x="1005840" y="4315968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Booking Data</a:t>
            </a:r>
          </a:p>
        </p:txBody>
      </p:sp>
      <p:sp>
        <p:nvSpPr>
          <p:cNvPr id="73" name="Google Shape;73;p5"/>
          <p:cNvSpPr txBox="1"/>
          <p:nvPr/>
        </p:nvSpPr>
        <p:spPr>
          <a:xfrm>
            <a:off x="2651760" y="430682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999232" y="4160520"/>
            <a:ext cx="169164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p5"/>
          <p:cNvSpPr txBox="1"/>
          <p:nvPr/>
        </p:nvSpPr>
        <p:spPr>
          <a:xfrm>
            <a:off x="3044952" y="4315968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EDA</a:t>
            </a:r>
          </a:p>
        </p:txBody>
      </p:sp>
      <p:sp>
        <p:nvSpPr>
          <p:cNvPr id="76" name="Google Shape;76;p5"/>
          <p:cNvSpPr txBox="1"/>
          <p:nvPr/>
        </p:nvSpPr>
        <p:spPr>
          <a:xfrm>
            <a:off x="4690872" y="430682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038344" y="4160520"/>
            <a:ext cx="169164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8" name="Google Shape;78;p5"/>
          <p:cNvSpPr txBox="1"/>
          <p:nvPr/>
        </p:nvSpPr>
        <p:spPr>
          <a:xfrm>
            <a:off x="5084064" y="4315968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ML Model</a:t>
            </a:r>
          </a:p>
        </p:txBody>
      </p:sp>
      <p:sp>
        <p:nvSpPr>
          <p:cNvPr id="79" name="Google Shape;79;p5"/>
          <p:cNvSpPr txBox="1"/>
          <p:nvPr/>
        </p:nvSpPr>
        <p:spPr>
          <a:xfrm>
            <a:off x="6729984" y="430682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077456" y="4160520"/>
            <a:ext cx="169164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1" name="Google Shape;81;p5"/>
          <p:cNvSpPr txBox="1"/>
          <p:nvPr/>
        </p:nvSpPr>
        <p:spPr>
          <a:xfrm>
            <a:off x="7123176" y="4315968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Risk Score</a:t>
            </a:r>
          </a:p>
        </p:txBody>
      </p:sp>
      <p:sp>
        <p:nvSpPr>
          <p:cNvPr id="82" name="Google Shape;82;p5"/>
          <p:cNvSpPr txBox="1"/>
          <p:nvPr/>
        </p:nvSpPr>
        <p:spPr>
          <a:xfrm>
            <a:off x="8769096" y="430682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9116568" y="4160520"/>
            <a:ext cx="1691640" cy="50292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4" name="Google Shape;84;p5"/>
          <p:cNvSpPr txBox="1"/>
          <p:nvPr/>
        </p:nvSpPr>
        <p:spPr>
          <a:xfrm>
            <a:off x="9162288" y="4315968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Business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/>
        </p:nvSpPr>
        <p:spPr>
          <a:xfrm>
            <a:off x="457200" y="256032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>
                <a:solidFill>
                  <a:srgbClr val="102A43"/>
                </a:solidFill>
              </a:rPr>
              <a:t>Dataset Overview: 36,248 Cleaned Booking Records</a:t>
            </a:r>
          </a:p>
        </p:txBody>
      </p:sp>
      <p:sp>
        <p:nvSpPr>
          <p:cNvPr id="90" name="Google Shape;90;p6"/>
          <p:cNvSpPr txBox="1"/>
          <p:nvPr/>
        </p:nvSpPr>
        <p:spPr>
          <a:xfrm>
            <a:off x="475488" y="75895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0">
                <a:solidFill>
                  <a:srgbClr val="5B6673"/>
                </a:solidFill>
              </a:rPr>
              <a:t>The dataset supports customer cancellation-risk prediction using customer, booking, pricing, and room-related variables.</a:t>
            </a:r>
          </a:p>
        </p:txBody>
      </p:sp>
      <p:sp>
        <p:nvSpPr>
          <p:cNvPr id="91" name="Google Shape;91;p6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2" name="Google Shape;92;p6"/>
          <p:cNvSpPr/>
          <p:nvPr/>
        </p:nvSpPr>
        <p:spPr>
          <a:xfrm>
            <a:off x="502920" y="123444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3" name="Google Shape;93;p6"/>
          <p:cNvSpPr/>
          <p:nvPr/>
        </p:nvSpPr>
        <p:spPr>
          <a:xfrm>
            <a:off x="502920" y="1234440"/>
            <a:ext cx="73152" cy="109728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4" name="Google Shape;94;p6"/>
          <p:cNvSpPr txBox="1"/>
          <p:nvPr/>
        </p:nvSpPr>
        <p:spPr>
          <a:xfrm>
            <a:off x="685800" y="13807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02A43"/>
                </a:solidFill>
              </a:rPr>
              <a:t>36,248</a:t>
            </a:r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685800" y="17647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0">
                <a:solidFill>
                  <a:srgbClr val="5B6673"/>
                </a:solidFill>
              </a:rPr>
              <a:t>Cleaned Bookings</a:t>
            </a:r>
          </a:p>
        </p:txBody>
      </p:sp>
      <p:sp>
        <p:nvSpPr>
          <p:cNvPr id="96" name="Google Shape;96;p6"/>
          <p:cNvSpPr/>
          <p:nvPr/>
        </p:nvSpPr>
        <p:spPr>
          <a:xfrm>
            <a:off x="2834639" y="123444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7" name="Google Shape;97;p6"/>
          <p:cNvSpPr/>
          <p:nvPr/>
        </p:nvSpPr>
        <p:spPr>
          <a:xfrm>
            <a:off x="2834639" y="1234440"/>
            <a:ext cx="73152" cy="109728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8" name="Google Shape;98;p6"/>
          <p:cNvSpPr txBox="1"/>
          <p:nvPr/>
        </p:nvSpPr>
        <p:spPr>
          <a:xfrm>
            <a:off x="3017519" y="13807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02A43"/>
                </a:solidFill>
              </a:rPr>
              <a:t>19</a:t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3017519" y="17647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0">
                <a:solidFill>
                  <a:srgbClr val="5B6673"/>
                </a:solidFill>
              </a:rPr>
              <a:t>Model Inputs</a:t>
            </a:r>
          </a:p>
        </p:txBody>
      </p:sp>
      <p:sp>
        <p:nvSpPr>
          <p:cNvPr id="100" name="Google Shape;100;p6"/>
          <p:cNvSpPr/>
          <p:nvPr/>
        </p:nvSpPr>
        <p:spPr>
          <a:xfrm>
            <a:off x="5166359" y="123444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1" name="Google Shape;101;p6"/>
          <p:cNvSpPr/>
          <p:nvPr/>
        </p:nvSpPr>
        <p:spPr>
          <a:xfrm>
            <a:off x="5166359" y="1234440"/>
            <a:ext cx="73152" cy="109728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2" name="Google Shape;102;p6"/>
          <p:cNvSpPr txBox="1"/>
          <p:nvPr/>
        </p:nvSpPr>
        <p:spPr>
          <a:xfrm>
            <a:off x="5349239" y="13807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02A43"/>
                </a:solidFill>
              </a:rPr>
              <a:t>32.8%</a:t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5349239" y="17647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0">
                <a:solidFill>
                  <a:srgbClr val="5B6673"/>
                </a:solidFill>
              </a:rPr>
              <a:t>Cancellation Rate</a:t>
            </a:r>
          </a:p>
        </p:txBody>
      </p:sp>
      <p:sp>
        <p:nvSpPr>
          <p:cNvPr id="104" name="Google Shape;104;p6"/>
          <p:cNvSpPr/>
          <p:nvPr/>
        </p:nvSpPr>
        <p:spPr>
          <a:xfrm>
            <a:off x="7498079" y="123444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5" name="Google Shape;105;p6"/>
          <p:cNvSpPr/>
          <p:nvPr/>
        </p:nvSpPr>
        <p:spPr>
          <a:xfrm>
            <a:off x="7498079" y="1234440"/>
            <a:ext cx="73152" cy="109728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6" name="Google Shape;106;p6"/>
          <p:cNvSpPr txBox="1"/>
          <p:nvPr/>
        </p:nvSpPr>
        <p:spPr>
          <a:xfrm>
            <a:off x="7680959" y="13807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02A43"/>
                </a:solidFill>
              </a:rPr>
              <a:t>13</a:t>
            </a:r>
            <a:endParaRPr/>
          </a:p>
        </p:txBody>
      </p:sp>
      <p:sp>
        <p:nvSpPr>
          <p:cNvPr id="107" name="Google Shape;107;p6"/>
          <p:cNvSpPr txBox="1"/>
          <p:nvPr/>
        </p:nvSpPr>
        <p:spPr>
          <a:xfrm>
            <a:off x="7680959" y="17647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0">
                <a:solidFill>
                  <a:srgbClr val="5B6673"/>
                </a:solidFill>
              </a:rPr>
              <a:t>Numerical Signals</a:t>
            </a:r>
          </a:p>
        </p:txBody>
      </p:sp>
      <p:sp>
        <p:nvSpPr>
          <p:cNvPr id="108" name="Google Shape;108;p6"/>
          <p:cNvSpPr/>
          <p:nvPr/>
        </p:nvSpPr>
        <p:spPr>
          <a:xfrm>
            <a:off x="9829800" y="123444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9" name="Google Shape;109;p6"/>
          <p:cNvSpPr/>
          <p:nvPr/>
        </p:nvSpPr>
        <p:spPr>
          <a:xfrm>
            <a:off x="9829800" y="1234440"/>
            <a:ext cx="73152" cy="109728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0" name="Google Shape;110;p6"/>
          <p:cNvSpPr txBox="1"/>
          <p:nvPr/>
        </p:nvSpPr>
        <p:spPr>
          <a:xfrm>
            <a:off x="10012680" y="13807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02A43"/>
                </a:solidFill>
              </a:rPr>
              <a:t>3</a:t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10012680" y="17647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0">
                <a:solidFill>
                  <a:srgbClr val="5B6673"/>
                </a:solidFill>
              </a:rPr>
              <a:t>Categorical Signals</a:t>
            </a:r>
          </a:p>
        </p:txBody>
      </p:sp>
      <p:sp>
        <p:nvSpPr>
          <p:cNvPr id="112" name="Google Shape;112;p6"/>
          <p:cNvSpPr/>
          <p:nvPr/>
        </p:nvSpPr>
        <p:spPr>
          <a:xfrm>
            <a:off x="777240" y="37947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3" name="Google Shape;113;p6"/>
          <p:cNvSpPr txBox="1"/>
          <p:nvPr/>
        </p:nvSpPr>
        <p:spPr>
          <a:xfrm>
            <a:off x="822960" y="39502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Customer</a:t>
            </a:r>
          </a:p>
        </p:txBody>
      </p:sp>
      <p:sp>
        <p:nvSpPr>
          <p:cNvPr id="114" name="Google Shape;114;p6"/>
          <p:cNvSpPr txBox="1"/>
          <p:nvPr/>
        </p:nvSpPr>
        <p:spPr>
          <a:xfrm>
            <a:off x="2606040" y="3941064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F80ED"/>
                </a:solidFill>
              </a:rPr>
              <a:t>-&gt;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2916936" y="37947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" name="Google Shape;116;p6"/>
          <p:cNvSpPr txBox="1"/>
          <p:nvPr/>
        </p:nvSpPr>
        <p:spPr>
          <a:xfrm>
            <a:off x="2962656" y="39502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Booking</a:t>
            </a:r>
          </a:p>
        </p:txBody>
      </p:sp>
      <p:sp>
        <p:nvSpPr>
          <p:cNvPr id="117" name="Google Shape;117;p6"/>
          <p:cNvSpPr txBox="1"/>
          <p:nvPr/>
        </p:nvSpPr>
        <p:spPr>
          <a:xfrm>
            <a:off x="4745736" y="3941064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F80ED"/>
                </a:solidFill>
              </a:rPr>
              <a:t>-&gt;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056632" y="37947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9" name="Google Shape;119;p6"/>
          <p:cNvSpPr txBox="1"/>
          <p:nvPr/>
        </p:nvSpPr>
        <p:spPr>
          <a:xfrm>
            <a:off x="5102352" y="39502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Pricing</a:t>
            </a:r>
          </a:p>
        </p:txBody>
      </p:sp>
      <p:sp>
        <p:nvSpPr>
          <p:cNvPr id="120" name="Google Shape;120;p6"/>
          <p:cNvSpPr txBox="1"/>
          <p:nvPr/>
        </p:nvSpPr>
        <p:spPr>
          <a:xfrm>
            <a:off x="6885432" y="3941064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F80ED"/>
                </a:solidFill>
              </a:rPr>
              <a:t>-&gt;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196328" y="37947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2" name="Google Shape;122;p6"/>
          <p:cNvSpPr txBox="1"/>
          <p:nvPr/>
        </p:nvSpPr>
        <p:spPr>
          <a:xfrm>
            <a:off x="7242048" y="39502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Room</a:t>
            </a:r>
          </a:p>
        </p:txBody>
      </p:sp>
      <p:sp>
        <p:nvSpPr>
          <p:cNvPr id="123" name="Google Shape;123;p6"/>
          <p:cNvSpPr txBox="1"/>
          <p:nvPr/>
        </p:nvSpPr>
        <p:spPr>
          <a:xfrm>
            <a:off x="9025128" y="3941064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F80ED"/>
                </a:solidFill>
              </a:rPr>
              <a:t>-&gt;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336024" y="37947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5" name="Google Shape;125;p6"/>
          <p:cNvSpPr txBox="1"/>
          <p:nvPr/>
        </p:nvSpPr>
        <p:spPr>
          <a:xfrm>
            <a:off x="9381744" y="39502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126" name="Google Shape;126;p6"/>
          <p:cNvSpPr txBox="1"/>
          <p:nvPr/>
        </p:nvSpPr>
        <p:spPr>
          <a:xfrm>
            <a:off x="2377440" y="491947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5B6673"/>
                </a:solidFill>
              </a:rPr>
              <a:t>Raw booking data was cleaned and engineered into 19 model-ready features; the 32.8% rate means nearly 1 in 3 bookings cancelled.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/>
        </p:nvSpPr>
        <p:spPr>
          <a:xfrm>
            <a:off x="457200" y="101794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 dirty="0">
                <a:solidFill>
                  <a:srgbClr val="102A43"/>
                </a:solidFill>
              </a:rPr>
              <a:t>Data Cleaning &amp; Preprocessing: Build a Reliable Modeling Base</a:t>
            </a:r>
          </a:p>
        </p:txBody>
      </p:sp>
      <p:sp>
        <p:nvSpPr>
          <p:cNvPr id="132" name="Google Shape;132;p7"/>
          <p:cNvSpPr txBox="1"/>
          <p:nvPr/>
        </p:nvSpPr>
        <p:spPr>
          <a:xfrm>
            <a:off x="484467" y="79260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50" b="1" dirty="0">
                <a:solidFill>
                  <a:srgbClr val="5B6673"/>
                </a:solidFill>
              </a:rPr>
              <a:t>Cleaning converted raw reservation data into consistent, leakage-aware inputs for fair model training.</a:t>
            </a:r>
          </a:p>
        </p:txBody>
      </p:sp>
      <p:sp>
        <p:nvSpPr>
          <p:cNvPr id="133" name="Google Shape;133;p7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4" name="Google Shape;134;p7"/>
          <p:cNvSpPr/>
          <p:nvPr/>
        </p:nvSpPr>
        <p:spPr>
          <a:xfrm>
            <a:off x="411480" y="1234440"/>
            <a:ext cx="132588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5" name="Google Shape;135;p7"/>
          <p:cNvSpPr txBox="1"/>
          <p:nvPr/>
        </p:nvSpPr>
        <p:spPr>
          <a:xfrm>
            <a:off x="457200" y="138988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Raw Data</a:t>
            </a:r>
          </a:p>
        </p:txBody>
      </p:sp>
      <p:sp>
        <p:nvSpPr>
          <p:cNvPr id="136" name="Google Shape;136;p7"/>
          <p:cNvSpPr txBox="1"/>
          <p:nvPr/>
        </p:nvSpPr>
        <p:spPr>
          <a:xfrm>
            <a:off x="1737360" y="1380744"/>
            <a:ext cx="228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965960" y="1234440"/>
            <a:ext cx="132588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8" name="Google Shape;138;p7"/>
          <p:cNvSpPr txBox="1"/>
          <p:nvPr/>
        </p:nvSpPr>
        <p:spPr>
          <a:xfrm>
            <a:off x="2011680" y="138988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Missing Values</a:t>
            </a:r>
          </a:p>
        </p:txBody>
      </p:sp>
      <p:sp>
        <p:nvSpPr>
          <p:cNvPr id="139" name="Google Shape;139;p7"/>
          <p:cNvSpPr txBox="1"/>
          <p:nvPr/>
        </p:nvSpPr>
        <p:spPr>
          <a:xfrm>
            <a:off x="3291840" y="1380744"/>
            <a:ext cx="228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3520440" y="1234440"/>
            <a:ext cx="132588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1" name="Google Shape;141;p7"/>
          <p:cNvSpPr txBox="1"/>
          <p:nvPr/>
        </p:nvSpPr>
        <p:spPr>
          <a:xfrm>
            <a:off x="3566160" y="138988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Duplicates</a:t>
            </a:r>
          </a:p>
        </p:txBody>
      </p:sp>
      <p:sp>
        <p:nvSpPr>
          <p:cNvPr id="142" name="Google Shape;142;p7"/>
          <p:cNvSpPr txBox="1"/>
          <p:nvPr/>
        </p:nvSpPr>
        <p:spPr>
          <a:xfrm>
            <a:off x="4846320" y="1380744"/>
            <a:ext cx="228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074920" y="1234440"/>
            <a:ext cx="132588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4" name="Google Shape;144;p7"/>
          <p:cNvSpPr txBox="1"/>
          <p:nvPr/>
        </p:nvSpPr>
        <p:spPr>
          <a:xfrm>
            <a:off x="5120640" y="138988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Encoding</a:t>
            </a:r>
          </a:p>
        </p:txBody>
      </p:sp>
      <p:sp>
        <p:nvSpPr>
          <p:cNvPr id="145" name="Google Shape;145;p7"/>
          <p:cNvSpPr txBox="1"/>
          <p:nvPr/>
        </p:nvSpPr>
        <p:spPr>
          <a:xfrm>
            <a:off x="6400800" y="1380744"/>
            <a:ext cx="228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6629400" y="1234440"/>
            <a:ext cx="132588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7" name="Google Shape;147;p7"/>
          <p:cNvSpPr txBox="1"/>
          <p:nvPr/>
        </p:nvSpPr>
        <p:spPr>
          <a:xfrm>
            <a:off x="6675120" y="138988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Scaling</a:t>
            </a:r>
          </a:p>
        </p:txBody>
      </p:sp>
      <p:sp>
        <p:nvSpPr>
          <p:cNvPr id="148" name="Google Shape;148;p7"/>
          <p:cNvSpPr txBox="1"/>
          <p:nvPr/>
        </p:nvSpPr>
        <p:spPr>
          <a:xfrm>
            <a:off x="7955280" y="1380744"/>
            <a:ext cx="228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183880" y="1234440"/>
            <a:ext cx="132588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0" name="Google Shape;150;p7"/>
          <p:cNvSpPr txBox="1"/>
          <p:nvPr/>
        </p:nvSpPr>
        <p:spPr>
          <a:xfrm>
            <a:off x="8229600" y="138988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1">
                <a:solidFill>
                  <a:srgbClr val="102A43"/>
                </a:solidFill>
              </a:rPr>
              <a:t>Train/Test Split</a:t>
            </a:r>
          </a:p>
        </p:txBody>
      </p:sp>
      <p:sp>
        <p:nvSpPr>
          <p:cNvPr id="151" name="Google Shape;151;p7"/>
          <p:cNvSpPr txBox="1"/>
          <p:nvPr/>
        </p:nvSpPr>
        <p:spPr>
          <a:xfrm>
            <a:off x="9509760" y="1380744"/>
            <a:ext cx="228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9738360" y="1234440"/>
            <a:ext cx="1325880" cy="50292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3" name="Google Shape;153;p7"/>
          <p:cNvSpPr txBox="1"/>
          <p:nvPr/>
        </p:nvSpPr>
        <p:spPr>
          <a:xfrm>
            <a:off x="9784080" y="138988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</a:rPr>
              <a:t>SMOTE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85800" y="2331720"/>
            <a:ext cx="3337560" cy="278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2423160"/>
            <a:ext cx="31546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832104" y="4773168"/>
            <a:ext cx="30449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>
                <a:solidFill>
                  <a:srgbClr val="5B6673"/>
                </a:solidFill>
              </a:rPr>
              <a:t>Clean dates and booking fields improved data reliability.</a:t>
            </a:r>
          </a:p>
        </p:txBody>
      </p:sp>
      <p:sp>
        <p:nvSpPr>
          <p:cNvPr id="157" name="Google Shape;157;p7"/>
          <p:cNvSpPr/>
          <p:nvPr/>
        </p:nvSpPr>
        <p:spPr>
          <a:xfrm>
            <a:off x="4434840" y="2331720"/>
            <a:ext cx="3337560" cy="278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58" name="Google Shape;1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6280" y="2423160"/>
            <a:ext cx="31546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4581144" y="4773168"/>
            <a:ext cx="30449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>
                <a:solidFill>
                  <a:srgbClr val="5B6673"/>
                </a:solidFill>
              </a:rPr>
              <a:t>The cancellation class was balanced only within training data.</a:t>
            </a:r>
          </a:p>
        </p:txBody>
      </p:sp>
      <p:sp>
        <p:nvSpPr>
          <p:cNvPr id="160" name="Google Shape;160;p7"/>
          <p:cNvSpPr/>
          <p:nvPr/>
        </p:nvSpPr>
        <p:spPr>
          <a:xfrm>
            <a:off x="8183879" y="2331720"/>
            <a:ext cx="3337560" cy="278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75319" y="2423160"/>
            <a:ext cx="31546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/>
        </p:nvSpPr>
        <p:spPr>
          <a:xfrm>
            <a:off x="8330183" y="4773168"/>
            <a:ext cx="30449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>
                <a:solidFill>
                  <a:srgbClr val="5B6673"/>
                </a:solidFill>
              </a:rPr>
              <a:t>This protects test-set evaluation from artificial performance inflation.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457200" y="46709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 dirty="0">
                <a:solidFill>
                  <a:srgbClr val="102A43"/>
                </a:solidFill>
              </a:rPr>
              <a:t>Exploratory Analysis: Where Cancellation Risk Shows Up</a:t>
            </a:r>
          </a:p>
        </p:txBody>
      </p:sp>
      <p:sp>
        <p:nvSpPr>
          <p:cNvPr id="168" name="Google Shape;168;p8"/>
          <p:cNvSpPr txBox="1"/>
          <p:nvPr/>
        </p:nvSpPr>
        <p:spPr>
          <a:xfrm>
            <a:off x="475488" y="75895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EDA connected booking patterns to revenue, occupancy, and demand-planning risk.</a:t>
            </a:r>
          </a:p>
        </p:txBody>
      </p:sp>
      <p:sp>
        <p:nvSpPr>
          <p:cNvPr id="169" name="Google Shape;169;p8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0" name="Google Shape;170;p8"/>
          <p:cNvSpPr/>
          <p:nvPr/>
        </p:nvSpPr>
        <p:spPr>
          <a:xfrm>
            <a:off x="502920" y="1234440"/>
            <a:ext cx="525780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" y="1325880"/>
            <a:ext cx="50749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649224" y="3218688"/>
            <a:ext cx="49651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>
                <a:solidFill>
                  <a:srgbClr val="5B6673"/>
                </a:solidFill>
              </a:rPr>
              <a:t>Nearly one-third of bookings cancelled, affecting expected occupancy and revenue.</a:t>
            </a:r>
          </a:p>
        </p:txBody>
      </p:sp>
      <p:sp>
        <p:nvSpPr>
          <p:cNvPr id="173" name="Google Shape;173;p8"/>
          <p:cNvSpPr/>
          <p:nvPr/>
        </p:nvSpPr>
        <p:spPr>
          <a:xfrm>
            <a:off x="6309359" y="1234440"/>
            <a:ext cx="525780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799" y="1325880"/>
            <a:ext cx="50749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6653969" y="3218688"/>
            <a:ext cx="49651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 dirty="0">
                <a:solidFill>
                  <a:srgbClr val="5B6673"/>
                </a:solidFill>
              </a:rPr>
              <a:t>Long lead times may signal weaker commitment and need earlier follow-up.</a:t>
            </a:r>
          </a:p>
        </p:txBody>
      </p:sp>
      <p:sp>
        <p:nvSpPr>
          <p:cNvPr id="176" name="Google Shape;176;p8"/>
          <p:cNvSpPr/>
          <p:nvPr/>
        </p:nvSpPr>
        <p:spPr>
          <a:xfrm>
            <a:off x="502920" y="3840480"/>
            <a:ext cx="525780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" y="3931920"/>
            <a:ext cx="50749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 txBox="1"/>
          <p:nvPr/>
        </p:nvSpPr>
        <p:spPr>
          <a:xfrm>
            <a:off x="803462" y="5824728"/>
            <a:ext cx="49651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 dirty="0">
                <a:solidFill>
                  <a:srgbClr val="5B6673"/>
                </a:solidFill>
              </a:rPr>
              <a:t>Online and high-risk channels may need closer monitoring.</a:t>
            </a:r>
          </a:p>
        </p:txBody>
      </p:sp>
      <p:sp>
        <p:nvSpPr>
          <p:cNvPr id="179" name="Google Shape;179;p8"/>
          <p:cNvSpPr/>
          <p:nvPr/>
        </p:nvSpPr>
        <p:spPr>
          <a:xfrm>
            <a:off x="6309359" y="3840480"/>
            <a:ext cx="525780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1" name="Google Shape;181;p8"/>
          <p:cNvSpPr txBox="1"/>
          <p:nvPr/>
        </p:nvSpPr>
        <p:spPr>
          <a:xfrm>
            <a:off x="6841255" y="5879813"/>
            <a:ext cx="49651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>
                <a:solidFill>
                  <a:srgbClr val="5B6673"/>
                </a:solidFill>
              </a:rPr>
              <a:t>Higher price profiles may reflect price sensitivity and cancellation behaviour.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381211-B4FD-40FD-9C91-666D5C9A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052" y="3909886"/>
            <a:ext cx="4854803" cy="201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/>
        </p:nvSpPr>
        <p:spPr>
          <a:xfrm>
            <a:off x="457200" y="256032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>
                <a:solidFill>
                  <a:srgbClr val="102A43"/>
                </a:solidFill>
              </a:rPr>
              <a:t>Feature Engineering: Turn Bookings into Risk Signals</a:t>
            </a:r>
          </a:p>
        </p:txBody>
      </p:sp>
      <p:sp>
        <p:nvSpPr>
          <p:cNvPr id="187" name="Google Shape;187;p9"/>
          <p:cNvSpPr txBox="1"/>
          <p:nvPr/>
        </p:nvSpPr>
        <p:spPr>
          <a:xfrm>
            <a:off x="475488" y="95725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Feature engineering translates raw records into business-readable indicators of cancellation risk.</a:t>
            </a:r>
          </a:p>
        </p:txBody>
      </p:sp>
      <p:sp>
        <p:nvSpPr>
          <p:cNvPr id="188" name="Google Shape;188;p9"/>
          <p:cNvSpPr/>
          <p:nvPr/>
        </p:nvSpPr>
        <p:spPr>
          <a:xfrm>
            <a:off x="589404" y="1211417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9" name="Google Shape;189;p9"/>
          <p:cNvSpPr/>
          <p:nvPr/>
        </p:nvSpPr>
        <p:spPr>
          <a:xfrm>
            <a:off x="914400" y="1715223"/>
            <a:ext cx="420624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0" name="Google Shape;190;p9"/>
          <p:cNvSpPr/>
          <p:nvPr/>
        </p:nvSpPr>
        <p:spPr>
          <a:xfrm>
            <a:off x="914400" y="1712303"/>
            <a:ext cx="73152" cy="59436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1" name="Google Shape;191;p9"/>
          <p:cNvSpPr txBox="1"/>
          <p:nvPr/>
        </p:nvSpPr>
        <p:spPr>
          <a:xfrm>
            <a:off x="1097280" y="1861527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booking status</a:t>
            </a:r>
          </a:p>
        </p:txBody>
      </p:sp>
      <p:sp>
        <p:nvSpPr>
          <p:cNvPr id="192" name="Google Shape;192;p9"/>
          <p:cNvSpPr txBox="1"/>
          <p:nvPr/>
        </p:nvSpPr>
        <p:spPr>
          <a:xfrm flipH="1">
            <a:off x="3243642" y="1936056"/>
            <a:ext cx="3886200" cy="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1" dirty="0">
                <a:solidFill>
                  <a:srgbClr val="5B6673"/>
                </a:solidFill>
              </a:rPr>
              <a:t>is_canceled target</a:t>
            </a:r>
          </a:p>
        </p:txBody>
      </p:sp>
      <p:sp>
        <p:nvSpPr>
          <p:cNvPr id="193" name="Google Shape;193;p9"/>
          <p:cNvSpPr txBox="1"/>
          <p:nvPr/>
        </p:nvSpPr>
        <p:spPr>
          <a:xfrm>
            <a:off x="5230368" y="189033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F8B8D"/>
                </a:solidFill>
              </a:rPr>
              <a:t>=&gt;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914400" y="2480510"/>
            <a:ext cx="420624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5" name="Google Shape;195;p9"/>
          <p:cNvSpPr/>
          <p:nvPr/>
        </p:nvSpPr>
        <p:spPr>
          <a:xfrm>
            <a:off x="914400" y="2492463"/>
            <a:ext cx="73152" cy="59436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6" name="Google Shape;196;p9"/>
          <p:cNvSpPr txBox="1"/>
          <p:nvPr/>
        </p:nvSpPr>
        <p:spPr>
          <a:xfrm>
            <a:off x="1097280" y="262681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reservation date</a:t>
            </a:r>
          </a:p>
        </p:txBody>
      </p:sp>
      <p:sp>
        <p:nvSpPr>
          <p:cNvPr id="197" name="Google Shape;197;p9"/>
          <p:cNvSpPr txBox="1"/>
          <p:nvPr/>
        </p:nvSpPr>
        <p:spPr>
          <a:xfrm flipH="1">
            <a:off x="2954943" y="2709991"/>
            <a:ext cx="3886200" cy="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1" dirty="0">
                <a:solidFill>
                  <a:srgbClr val="5B6673"/>
                </a:solidFill>
              </a:rPr>
              <a:t>booking_month + date parts</a:t>
            </a:r>
          </a:p>
        </p:txBody>
      </p:sp>
      <p:sp>
        <p:nvSpPr>
          <p:cNvPr id="198" name="Google Shape;198;p9"/>
          <p:cNvSpPr txBox="1"/>
          <p:nvPr/>
        </p:nvSpPr>
        <p:spPr>
          <a:xfrm>
            <a:off x="5230368" y="266757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F8B8D"/>
                </a:solidFill>
              </a:rPr>
              <a:t>=&gt;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914400" y="3261936"/>
            <a:ext cx="420624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0" name="Google Shape;200;p9"/>
          <p:cNvSpPr/>
          <p:nvPr/>
        </p:nvSpPr>
        <p:spPr>
          <a:xfrm>
            <a:off x="914400" y="3266783"/>
            <a:ext cx="73152" cy="59436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1" name="Google Shape;201;p9"/>
          <p:cNvSpPr txBox="1"/>
          <p:nvPr/>
        </p:nvSpPr>
        <p:spPr>
          <a:xfrm>
            <a:off x="1097280" y="340824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guest and stay counts</a:t>
            </a:r>
          </a:p>
        </p:txBody>
      </p:sp>
      <p:sp>
        <p:nvSpPr>
          <p:cNvPr id="202" name="Google Shape;202;p9"/>
          <p:cNvSpPr txBox="1"/>
          <p:nvPr/>
        </p:nvSpPr>
        <p:spPr>
          <a:xfrm flipH="1">
            <a:off x="3064892" y="3456548"/>
            <a:ext cx="3886200" cy="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1" dirty="0">
                <a:solidFill>
                  <a:srgbClr val="5B6673"/>
                </a:solidFill>
              </a:rPr>
              <a:t>total_guests + total_nights</a:t>
            </a:r>
          </a:p>
        </p:txBody>
      </p:sp>
      <p:sp>
        <p:nvSpPr>
          <p:cNvPr id="203" name="Google Shape;203;p9"/>
          <p:cNvSpPr txBox="1"/>
          <p:nvPr/>
        </p:nvSpPr>
        <p:spPr>
          <a:xfrm>
            <a:off x="5230368" y="3412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F8B8D"/>
                </a:solidFill>
              </a:rPr>
              <a:t>=&gt;</a:t>
            </a:r>
            <a:endParaRPr dirty="0"/>
          </a:p>
        </p:txBody>
      </p:sp>
      <p:sp>
        <p:nvSpPr>
          <p:cNvPr id="204" name="Google Shape;204;p9"/>
          <p:cNvSpPr/>
          <p:nvPr/>
        </p:nvSpPr>
        <p:spPr>
          <a:xfrm>
            <a:off x="914400" y="4050908"/>
            <a:ext cx="420624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5" name="Google Shape;205;p9"/>
          <p:cNvSpPr/>
          <p:nvPr/>
        </p:nvSpPr>
        <p:spPr>
          <a:xfrm>
            <a:off x="914400" y="4044023"/>
            <a:ext cx="73152" cy="59436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6" name="Google Shape;206;p9"/>
          <p:cNvSpPr txBox="1"/>
          <p:nvPr/>
        </p:nvSpPr>
        <p:spPr>
          <a:xfrm>
            <a:off x="1097280" y="419721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segments and channels</a:t>
            </a:r>
          </a:p>
        </p:txBody>
      </p:sp>
      <p:sp>
        <p:nvSpPr>
          <p:cNvPr id="207" name="Google Shape;207;p9"/>
          <p:cNvSpPr txBox="1"/>
          <p:nvPr/>
        </p:nvSpPr>
        <p:spPr>
          <a:xfrm flipH="1">
            <a:off x="3309744" y="4233787"/>
            <a:ext cx="3886200" cy="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encoded </a:t>
            </a:r>
            <a:r>
              <a:rPr lang="en-US" sz="1200" b="1" dirty="0">
                <a:solidFill>
                  <a:srgbClr val="5B6673"/>
                </a:solidFill>
              </a:rPr>
              <a:t>model</a:t>
            </a:r>
            <a:r>
              <a:rPr lang="en-US" sz="1100" b="1" dirty="0">
                <a:solidFill>
                  <a:srgbClr val="5B6673"/>
                </a:solidFill>
              </a:rPr>
              <a:t> inputs</a:t>
            </a:r>
          </a:p>
        </p:txBody>
      </p:sp>
      <p:sp>
        <p:nvSpPr>
          <p:cNvPr id="208" name="Google Shape;208;p9"/>
          <p:cNvSpPr txBox="1"/>
          <p:nvPr/>
        </p:nvSpPr>
        <p:spPr>
          <a:xfrm>
            <a:off x="5230368" y="4233787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F8B8D"/>
                </a:solidFill>
              </a:rPr>
              <a:t>=&gt;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473952" y="2249097"/>
            <a:ext cx="4343400" cy="173736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0" name="Google Shape;210;p9"/>
          <p:cNvSpPr txBox="1"/>
          <p:nvPr/>
        </p:nvSpPr>
        <p:spPr>
          <a:xfrm>
            <a:off x="6931152" y="261485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</a:rPr>
              <a:t>Clearer Signals</a:t>
            </a:r>
          </a:p>
        </p:txBody>
      </p:sp>
      <p:sp>
        <p:nvSpPr>
          <p:cNvPr id="211" name="Google Shape;211;p9"/>
          <p:cNvSpPr txBox="1"/>
          <p:nvPr/>
        </p:nvSpPr>
        <p:spPr>
          <a:xfrm>
            <a:off x="8348472" y="263314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6C85F"/>
                </a:solidFill>
              </a:rPr>
              <a:t>-&gt;</a:t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8851392" y="2614858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</a:rPr>
              <a:t>Better Predictions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ADE32-6F9E-44B2-8F20-FAEBCFEBB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" y="0"/>
            <a:ext cx="13325094" cy="7499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 txBox="1"/>
          <p:nvPr/>
        </p:nvSpPr>
        <p:spPr>
          <a:xfrm>
            <a:off x="457200" y="57726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 dirty="0">
                <a:solidFill>
                  <a:srgbClr val="102A43"/>
                </a:solidFill>
              </a:rPr>
              <a:t>Model Training: Compare Algorithms for Decision Support</a:t>
            </a:r>
          </a:p>
        </p:txBody>
      </p:sp>
      <p:sp>
        <p:nvSpPr>
          <p:cNvPr id="218" name="Google Shape;218;p10"/>
          <p:cNvSpPr txBox="1"/>
          <p:nvPr/>
        </p:nvSpPr>
        <p:spPr>
          <a:xfrm>
            <a:off x="475488" y="825054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1" dirty="0">
                <a:solidFill>
                  <a:srgbClr val="5B6673"/>
                </a:solidFill>
              </a:rPr>
              <a:t>Multiple models were tested to select the most reliable option for operational hotel decisions.</a:t>
            </a:r>
          </a:p>
        </p:txBody>
      </p:sp>
      <p:sp>
        <p:nvSpPr>
          <p:cNvPr id="219" name="Google Shape;219;p10"/>
          <p:cNvSpPr/>
          <p:nvPr/>
        </p:nvSpPr>
        <p:spPr>
          <a:xfrm>
            <a:off x="457200" y="1112264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0" name="Google Shape;220;p10"/>
          <p:cNvSpPr/>
          <p:nvPr/>
        </p:nvSpPr>
        <p:spPr>
          <a:xfrm>
            <a:off x="685800" y="1325880"/>
            <a:ext cx="48920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1" name="Google Shape;221;p10"/>
          <p:cNvSpPr/>
          <p:nvPr/>
        </p:nvSpPr>
        <p:spPr>
          <a:xfrm>
            <a:off x="685800" y="1325880"/>
            <a:ext cx="73152" cy="86868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2" name="Google Shape;222;p10"/>
          <p:cNvSpPr txBox="1"/>
          <p:nvPr/>
        </p:nvSpPr>
        <p:spPr>
          <a:xfrm>
            <a:off x="868680" y="147218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Logistic Regression</a:t>
            </a:r>
          </a:p>
        </p:txBody>
      </p:sp>
      <p:sp>
        <p:nvSpPr>
          <p:cNvPr id="223" name="Google Shape;223;p10"/>
          <p:cNvSpPr txBox="1"/>
          <p:nvPr/>
        </p:nvSpPr>
        <p:spPr>
          <a:xfrm>
            <a:off x="868680" y="18562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Transparent baseline</a:t>
            </a:r>
          </a:p>
        </p:txBody>
      </p:sp>
      <p:sp>
        <p:nvSpPr>
          <p:cNvPr id="224" name="Google Shape;224;p10"/>
          <p:cNvSpPr/>
          <p:nvPr/>
        </p:nvSpPr>
        <p:spPr>
          <a:xfrm>
            <a:off x="6217920" y="1325880"/>
            <a:ext cx="48920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5" name="Google Shape;225;p10"/>
          <p:cNvSpPr/>
          <p:nvPr/>
        </p:nvSpPr>
        <p:spPr>
          <a:xfrm>
            <a:off x="6217920" y="1325880"/>
            <a:ext cx="73152" cy="868680"/>
          </a:xfrm>
          <a:prstGeom prst="roundRect">
            <a:avLst>
              <a:gd name="adj" fmla="val 16667"/>
            </a:avLst>
          </a:prstGeom>
          <a:solidFill>
            <a:srgbClr val="2EAD6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6" name="Google Shape;226;p10"/>
          <p:cNvSpPr txBox="1"/>
          <p:nvPr/>
        </p:nvSpPr>
        <p:spPr>
          <a:xfrm>
            <a:off x="6400800" y="147218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Decision Tree</a:t>
            </a:r>
          </a:p>
        </p:txBody>
      </p:sp>
      <p:sp>
        <p:nvSpPr>
          <p:cNvPr id="227" name="Google Shape;227;p10"/>
          <p:cNvSpPr txBox="1"/>
          <p:nvPr/>
        </p:nvSpPr>
        <p:spPr>
          <a:xfrm>
            <a:off x="6400800" y="18562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Simple decision rules</a:t>
            </a:r>
          </a:p>
        </p:txBody>
      </p:sp>
      <p:sp>
        <p:nvSpPr>
          <p:cNvPr id="228" name="Google Shape;228;p10"/>
          <p:cNvSpPr/>
          <p:nvPr/>
        </p:nvSpPr>
        <p:spPr>
          <a:xfrm>
            <a:off x="685800" y="2468880"/>
            <a:ext cx="48920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9" name="Google Shape;229;p10"/>
          <p:cNvSpPr/>
          <p:nvPr/>
        </p:nvSpPr>
        <p:spPr>
          <a:xfrm>
            <a:off x="685800" y="2468880"/>
            <a:ext cx="73152" cy="86868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0" name="Google Shape;230;p10"/>
          <p:cNvSpPr txBox="1"/>
          <p:nvPr/>
        </p:nvSpPr>
        <p:spPr>
          <a:xfrm>
            <a:off x="868680" y="261518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Random Forest</a:t>
            </a:r>
          </a:p>
        </p:txBody>
      </p:sp>
      <p:sp>
        <p:nvSpPr>
          <p:cNvPr id="231" name="Google Shape;231;p10"/>
          <p:cNvSpPr txBox="1"/>
          <p:nvPr/>
        </p:nvSpPr>
        <p:spPr>
          <a:xfrm>
            <a:off x="868680" y="29992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Best balance of accuracy and separation</a:t>
            </a:r>
          </a:p>
        </p:txBody>
      </p:sp>
      <p:sp>
        <p:nvSpPr>
          <p:cNvPr id="232" name="Google Shape;232;p10"/>
          <p:cNvSpPr/>
          <p:nvPr/>
        </p:nvSpPr>
        <p:spPr>
          <a:xfrm>
            <a:off x="6217920" y="2468880"/>
            <a:ext cx="489204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3" name="Google Shape;233;p10"/>
          <p:cNvSpPr/>
          <p:nvPr/>
        </p:nvSpPr>
        <p:spPr>
          <a:xfrm>
            <a:off x="6217920" y="2468880"/>
            <a:ext cx="73152" cy="868680"/>
          </a:xfrm>
          <a:prstGeom prst="roundRect">
            <a:avLst>
              <a:gd name="adj" fmla="val 16667"/>
            </a:avLst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4" name="Google Shape;234;p10"/>
          <p:cNvSpPr txBox="1"/>
          <p:nvPr/>
        </p:nvSpPr>
        <p:spPr>
          <a:xfrm>
            <a:off x="6400800" y="261518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Gradient Boosting</a:t>
            </a:r>
          </a:p>
        </p:txBody>
      </p:sp>
      <p:sp>
        <p:nvSpPr>
          <p:cNvPr id="235" name="Google Shape;235;p10"/>
          <p:cNvSpPr txBox="1"/>
          <p:nvPr/>
        </p:nvSpPr>
        <p:spPr>
          <a:xfrm>
            <a:off x="6400800" y="29992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Strong ranked-risk model</a:t>
            </a:r>
          </a:p>
        </p:txBody>
      </p:sp>
      <p:sp>
        <p:nvSpPr>
          <p:cNvPr id="236" name="Google Shape;236;p10"/>
          <p:cNvSpPr/>
          <p:nvPr/>
        </p:nvSpPr>
        <p:spPr>
          <a:xfrm>
            <a:off x="1828800" y="47091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7" name="Google Shape;237;p10"/>
          <p:cNvSpPr txBox="1"/>
          <p:nvPr/>
        </p:nvSpPr>
        <p:spPr>
          <a:xfrm>
            <a:off x="1874520" y="48646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102A43"/>
                </a:solidFill>
              </a:rPr>
              <a:t>Train</a:t>
            </a:r>
          </a:p>
        </p:txBody>
      </p:sp>
      <p:sp>
        <p:nvSpPr>
          <p:cNvPr id="238" name="Google Shape;238;p10"/>
          <p:cNvSpPr txBox="1"/>
          <p:nvPr/>
        </p:nvSpPr>
        <p:spPr>
          <a:xfrm>
            <a:off x="3657600" y="4855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4069080" y="47091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0" name="Google Shape;240;p10"/>
          <p:cNvSpPr txBox="1"/>
          <p:nvPr/>
        </p:nvSpPr>
        <p:spPr>
          <a:xfrm>
            <a:off x="4114800" y="48646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102A43"/>
                </a:solidFill>
              </a:rPr>
              <a:t>Evaluate</a:t>
            </a:r>
          </a:p>
        </p:txBody>
      </p:sp>
      <p:sp>
        <p:nvSpPr>
          <p:cNvPr id="241" name="Google Shape;241;p10"/>
          <p:cNvSpPr txBox="1"/>
          <p:nvPr/>
        </p:nvSpPr>
        <p:spPr>
          <a:xfrm>
            <a:off x="5897880" y="4855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309360" y="47091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3" name="Google Shape;243;p10"/>
          <p:cNvSpPr txBox="1"/>
          <p:nvPr/>
        </p:nvSpPr>
        <p:spPr>
          <a:xfrm>
            <a:off x="6355080" y="48646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102A43"/>
                </a:solidFill>
              </a:rPr>
              <a:t>Compare</a:t>
            </a:r>
          </a:p>
        </p:txBody>
      </p:sp>
      <p:sp>
        <p:nvSpPr>
          <p:cNvPr id="244" name="Google Shape;244;p10"/>
          <p:cNvSpPr txBox="1"/>
          <p:nvPr/>
        </p:nvSpPr>
        <p:spPr>
          <a:xfrm>
            <a:off x="8138160" y="4855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8B8D"/>
                </a:solidFill>
              </a:rPr>
              <a:t>-&gt;</a:t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8549640" y="470916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6" name="Google Shape;246;p10"/>
          <p:cNvSpPr txBox="1"/>
          <p:nvPr/>
        </p:nvSpPr>
        <p:spPr>
          <a:xfrm>
            <a:off x="8595360" y="48646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FFFFFF"/>
                </a:solidFill>
              </a:rPr>
              <a:t>Select</a:t>
            </a:r>
            <a:endParaRPr lang="en-US" sz="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57;p11">
            <a:extLst>
              <a:ext uri="{FF2B5EF4-FFF2-40B4-BE49-F238E27FC236}">
                <a16:creationId xmlns:a16="http://schemas.microsoft.com/office/drawing/2014/main" id="{1CBA75BE-B0B2-468B-8EFB-8A168F69BE0F}"/>
              </a:ext>
            </a:extLst>
          </p:cNvPr>
          <p:cNvSpPr/>
          <p:nvPr/>
        </p:nvSpPr>
        <p:spPr>
          <a:xfrm>
            <a:off x="220326" y="5596128"/>
            <a:ext cx="5078787" cy="18014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1" name="Google Shape;251;p11"/>
          <p:cNvSpPr txBox="1"/>
          <p:nvPr/>
        </p:nvSpPr>
        <p:spPr>
          <a:xfrm>
            <a:off x="457200" y="256032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>
                <a:solidFill>
                  <a:srgbClr val="102A43"/>
                </a:solidFill>
              </a:rPr>
              <a:t>Model Evaluation: Random Forest Leads Overall</a:t>
            </a:r>
          </a:p>
        </p:txBody>
      </p:sp>
      <p:sp>
        <p:nvSpPr>
          <p:cNvPr id="252" name="Google Shape;252;p11"/>
          <p:cNvSpPr txBox="1"/>
          <p:nvPr/>
        </p:nvSpPr>
        <p:spPr>
          <a:xfrm>
            <a:off x="475488" y="75895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50" b="1" dirty="0">
                <a:solidFill>
                  <a:srgbClr val="5B6673"/>
                </a:solidFill>
              </a:rPr>
              <a:t>Random Forest offered the best mix of accuracy and cancellation-risk separation on the untouched test set.</a:t>
            </a:r>
          </a:p>
        </p:txBody>
      </p:sp>
      <p:sp>
        <p:nvSpPr>
          <p:cNvPr id="253" name="Google Shape;253;p11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4" name="Google Shape;254;p11"/>
          <p:cNvSpPr/>
          <p:nvPr/>
        </p:nvSpPr>
        <p:spPr>
          <a:xfrm>
            <a:off x="502920" y="1188720"/>
            <a:ext cx="6949440" cy="434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55" name="Google Shape;25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" y="1280160"/>
            <a:ext cx="676656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 txBox="1"/>
          <p:nvPr/>
        </p:nvSpPr>
        <p:spPr>
          <a:xfrm>
            <a:off x="781428" y="5184648"/>
            <a:ext cx="665683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900" b="1" dirty="0">
                <a:solidFill>
                  <a:srgbClr val="5B6673"/>
                </a:solidFill>
              </a:rPr>
              <a:t>Business view: higher ROC-AUC means better ranking of risky bookings before check-in.</a:t>
            </a:r>
          </a:p>
        </p:txBody>
      </p:sp>
      <p:sp>
        <p:nvSpPr>
          <p:cNvPr id="257" name="Google Shape;257;p11"/>
          <p:cNvSpPr/>
          <p:nvPr/>
        </p:nvSpPr>
        <p:spPr>
          <a:xfrm>
            <a:off x="7772400" y="1188720"/>
            <a:ext cx="3886200" cy="434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8" name="Google Shape;258;p11"/>
          <p:cNvSpPr txBox="1"/>
          <p:nvPr/>
        </p:nvSpPr>
        <p:spPr>
          <a:xfrm>
            <a:off x="8001000" y="155448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>
                <a:solidFill>
                  <a:srgbClr val="102A43"/>
                </a:solidFill>
              </a:rPr>
              <a:t>Model                 Accuracy   ROC-AUC</a:t>
            </a:r>
          </a:p>
        </p:txBody>
      </p:sp>
      <p:sp>
        <p:nvSpPr>
          <p:cNvPr id="259" name="Google Shape;259;p11"/>
          <p:cNvSpPr txBox="1"/>
          <p:nvPr/>
        </p:nvSpPr>
        <p:spPr>
          <a:xfrm>
            <a:off x="8001000" y="199339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>
                <a:solidFill>
                  <a:srgbClr val="18212B"/>
                </a:solidFill>
              </a:rPr>
              <a:t>Random Forest            88%      0.94</a:t>
            </a:r>
          </a:p>
        </p:txBody>
      </p:sp>
      <p:sp>
        <p:nvSpPr>
          <p:cNvPr id="260" name="Google Shape;260;p11"/>
          <p:cNvSpPr txBox="1"/>
          <p:nvPr/>
        </p:nvSpPr>
        <p:spPr>
          <a:xfrm>
            <a:off x="8001000" y="258775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0">
                <a:solidFill>
                  <a:srgbClr val="18212B"/>
                </a:solidFill>
              </a:rPr>
              <a:t>Decision Tree            86%      0.85</a:t>
            </a:r>
          </a:p>
        </p:txBody>
      </p:sp>
      <p:sp>
        <p:nvSpPr>
          <p:cNvPr id="261" name="Google Shape;261;p11"/>
          <p:cNvSpPr txBox="1"/>
          <p:nvPr/>
        </p:nvSpPr>
        <p:spPr>
          <a:xfrm>
            <a:off x="8001000" y="318211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0">
                <a:solidFill>
                  <a:srgbClr val="18212B"/>
                </a:solidFill>
              </a:rPr>
              <a:t>Gradient Boosting        82%      0.91</a:t>
            </a:r>
          </a:p>
        </p:txBody>
      </p:sp>
      <p:sp>
        <p:nvSpPr>
          <p:cNvPr id="262" name="Google Shape;262;p11"/>
          <p:cNvSpPr txBox="1"/>
          <p:nvPr/>
        </p:nvSpPr>
        <p:spPr>
          <a:xfrm>
            <a:off x="8001000" y="377647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0">
                <a:solidFill>
                  <a:srgbClr val="18212B"/>
                </a:solidFill>
              </a:rPr>
              <a:t>Logistic Regression      78%      0.86</a:t>
            </a:r>
          </a:p>
        </p:txBody>
      </p:sp>
      <p:sp>
        <p:nvSpPr>
          <p:cNvPr id="263" name="Google Shape;263;p11"/>
          <p:cNvSpPr/>
          <p:nvPr/>
        </p:nvSpPr>
        <p:spPr>
          <a:xfrm>
            <a:off x="8321040" y="4754879"/>
            <a:ext cx="1645920" cy="544233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4" name="Google Shape;264;p11"/>
          <p:cNvSpPr txBox="1"/>
          <p:nvPr/>
        </p:nvSpPr>
        <p:spPr>
          <a:xfrm>
            <a:off x="8321040" y="48463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FFFFFF"/>
                </a:solidFill>
              </a:rPr>
              <a:t>Recommended model: Random Forest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EB32AA-DBF8-42C1-96C9-6F7DEAC6F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55" y="5662087"/>
            <a:ext cx="4591286" cy="1581231"/>
          </a:xfrm>
          <a:prstGeom prst="rect">
            <a:avLst/>
          </a:prstGeom>
        </p:spPr>
      </p:pic>
      <p:sp>
        <p:nvSpPr>
          <p:cNvPr id="19" name="Google Shape;257;p11">
            <a:extLst>
              <a:ext uri="{FF2B5EF4-FFF2-40B4-BE49-F238E27FC236}">
                <a16:creationId xmlns:a16="http://schemas.microsoft.com/office/drawing/2014/main" id="{5E7B982A-4E11-4639-9B6C-0DAC3166772B}"/>
              </a:ext>
            </a:extLst>
          </p:cNvPr>
          <p:cNvSpPr/>
          <p:nvPr/>
        </p:nvSpPr>
        <p:spPr>
          <a:xfrm>
            <a:off x="5412944" y="5635568"/>
            <a:ext cx="3886200" cy="17619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GB" sz="1600" b="1" dirty="0">
              <a:latin typeface="Bell MT" panose="02020503060305020303" pitchFamily="18" charset="0"/>
            </a:endParaRPr>
          </a:p>
          <a:p>
            <a:r>
              <a:rPr lang="en-GB" sz="1600" b="1" dirty="0">
                <a:latin typeface="Bell MT" panose="02020503060305020303" pitchFamily="18" charset="0"/>
              </a:rPr>
              <a:t>Model Strengths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Bell MT" panose="02020503060305020303" pitchFamily="18" charset="0"/>
              </a:rPr>
              <a:t>Highest overall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Bell MT" panose="02020503060305020303" pitchFamily="18" charset="0"/>
              </a:rPr>
              <a:t>Strong cancellation separation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Bell MT" panose="02020503060305020303" pitchFamily="18" charset="0"/>
              </a:rPr>
              <a:t>Balanced predictive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Bell MT" panose="02020503060305020303" pitchFamily="18" charset="0"/>
              </a:rPr>
              <a:t>Stable across evaluation metrics</a:t>
            </a:r>
          </a:p>
        </p:txBody>
      </p:sp>
      <p:sp>
        <p:nvSpPr>
          <p:cNvPr id="20" name="Google Shape;257;p11">
            <a:extLst>
              <a:ext uri="{FF2B5EF4-FFF2-40B4-BE49-F238E27FC236}">
                <a16:creationId xmlns:a16="http://schemas.microsoft.com/office/drawing/2014/main" id="{FB2A713F-3888-42F0-B7BD-7F45999B1305}"/>
              </a:ext>
            </a:extLst>
          </p:cNvPr>
          <p:cNvSpPr/>
          <p:nvPr/>
        </p:nvSpPr>
        <p:spPr>
          <a:xfrm>
            <a:off x="9412975" y="5615849"/>
            <a:ext cx="3886200" cy="176198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GB" sz="1600" b="1" dirty="0">
              <a:latin typeface="Bell MT" panose="02020503060305020303" pitchFamily="18" charset="0"/>
            </a:endParaRPr>
          </a:p>
          <a:p>
            <a:r>
              <a:rPr lang="en-GB" sz="1600" b="1" dirty="0">
                <a:latin typeface="Bell MT" panose="02020503060305020303" pitchFamily="18" charset="0"/>
              </a:rPr>
              <a:t>Operational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Bell MT" panose="02020503060305020303" pitchFamily="18" charset="0"/>
              </a:rPr>
              <a:t>Earlier cancellation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Bell MT" panose="02020503060305020303" pitchFamily="18" charset="0"/>
              </a:rPr>
              <a:t>Better overbooking decisions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Bell MT" panose="02020503060305020303" pitchFamily="18" charset="0"/>
              </a:rPr>
              <a:t>Improved staffing forecasts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Bell MT" panose="02020503060305020303" pitchFamily="18" charset="0"/>
              </a:rPr>
              <a:t>Reduced revenue leakage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/>
          <p:nvPr/>
        </p:nvSpPr>
        <p:spPr>
          <a:xfrm>
            <a:off x="457200" y="35692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 dirty="0">
                <a:solidFill>
                  <a:srgbClr val="102A43"/>
                </a:solidFill>
              </a:rPr>
              <a:t>Confusion Matrix: Predictions Translated into Hotel Actions</a:t>
            </a:r>
          </a:p>
        </p:txBody>
      </p:sp>
      <p:sp>
        <p:nvSpPr>
          <p:cNvPr id="270" name="Google Shape;270;p12"/>
          <p:cNvSpPr txBox="1"/>
          <p:nvPr/>
        </p:nvSpPr>
        <p:spPr>
          <a:xfrm>
            <a:off x="475488" y="75895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1" dirty="0">
                <a:solidFill>
                  <a:srgbClr val="5B6673"/>
                </a:solidFill>
              </a:rPr>
              <a:t>The matrix shows where the model supports action and where business risk remains.</a:t>
            </a:r>
          </a:p>
        </p:txBody>
      </p:sp>
      <p:sp>
        <p:nvSpPr>
          <p:cNvPr id="271" name="Google Shape;271;p12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2" name="Google Shape;272;p12"/>
          <p:cNvSpPr/>
          <p:nvPr/>
        </p:nvSpPr>
        <p:spPr>
          <a:xfrm>
            <a:off x="868680" y="1234440"/>
            <a:ext cx="5303520" cy="434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73" name="Google Shape;27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1325880"/>
            <a:ext cx="51206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2"/>
          <p:cNvSpPr txBox="1"/>
          <p:nvPr/>
        </p:nvSpPr>
        <p:spPr>
          <a:xfrm>
            <a:off x="1202273" y="5230368"/>
            <a:ext cx="50109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5B6673"/>
                </a:solidFill>
              </a:rPr>
              <a:t>Test set: TN=4,437 | FP=436 | FN=407 | TP=1,970</a:t>
            </a:r>
          </a:p>
        </p:txBody>
      </p:sp>
      <p:sp>
        <p:nvSpPr>
          <p:cNvPr id="275" name="Google Shape;275;p12"/>
          <p:cNvSpPr/>
          <p:nvPr/>
        </p:nvSpPr>
        <p:spPr>
          <a:xfrm>
            <a:off x="6583680" y="1325880"/>
            <a:ext cx="44348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6" name="Google Shape;276;p12"/>
          <p:cNvSpPr/>
          <p:nvPr/>
        </p:nvSpPr>
        <p:spPr>
          <a:xfrm>
            <a:off x="6583680" y="1369948"/>
            <a:ext cx="73152" cy="71323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7" name="Google Shape;277;p12"/>
          <p:cNvSpPr txBox="1"/>
          <p:nvPr/>
        </p:nvSpPr>
        <p:spPr>
          <a:xfrm>
            <a:off x="6766560" y="147218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True Negatives</a:t>
            </a:r>
          </a:p>
        </p:txBody>
      </p:sp>
      <p:sp>
        <p:nvSpPr>
          <p:cNvPr id="278" name="Google Shape;278;p12"/>
          <p:cNvSpPr txBox="1"/>
          <p:nvPr/>
        </p:nvSpPr>
        <p:spPr>
          <a:xfrm>
            <a:off x="6766560" y="1856232"/>
            <a:ext cx="411480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Guests likely to stay no extra intervention needed.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6583680" y="2258568"/>
            <a:ext cx="44348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0" name="Google Shape;280;p12"/>
          <p:cNvSpPr/>
          <p:nvPr/>
        </p:nvSpPr>
        <p:spPr>
          <a:xfrm>
            <a:off x="6583680" y="2291619"/>
            <a:ext cx="73152" cy="713232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1" name="Google Shape;281;p12"/>
          <p:cNvSpPr txBox="1"/>
          <p:nvPr/>
        </p:nvSpPr>
        <p:spPr>
          <a:xfrm>
            <a:off x="6766560" y="24048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True Positives</a:t>
            </a:r>
          </a:p>
        </p:txBody>
      </p:sp>
      <p:sp>
        <p:nvSpPr>
          <p:cNvPr id="282" name="Google Shape;282;p12"/>
          <p:cNvSpPr txBox="1"/>
          <p:nvPr/>
        </p:nvSpPr>
        <p:spPr>
          <a:xfrm>
            <a:off x="6766560" y="2788920"/>
            <a:ext cx="411480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Likely cancellations identified early enough to act.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6583680" y="3191256"/>
            <a:ext cx="4434840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4" name="Google Shape;284;p12"/>
          <p:cNvSpPr/>
          <p:nvPr/>
        </p:nvSpPr>
        <p:spPr>
          <a:xfrm>
            <a:off x="6583680" y="3224307"/>
            <a:ext cx="73152" cy="713232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5" name="Google Shape;285;p12"/>
          <p:cNvSpPr txBox="1"/>
          <p:nvPr/>
        </p:nvSpPr>
        <p:spPr>
          <a:xfrm>
            <a:off x="6766560" y="33375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False Positives</a:t>
            </a:r>
          </a:p>
        </p:txBody>
      </p:sp>
      <p:sp>
        <p:nvSpPr>
          <p:cNvPr id="286" name="Google Shape;286;p12"/>
          <p:cNvSpPr txBox="1"/>
          <p:nvPr/>
        </p:nvSpPr>
        <p:spPr>
          <a:xfrm>
            <a:off x="6766560" y="3721608"/>
            <a:ext cx="411480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Unnecessary intervention risk for guests who would stay.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6583680" y="4123944"/>
            <a:ext cx="4434840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8" name="Google Shape;288;p12"/>
          <p:cNvSpPr/>
          <p:nvPr/>
        </p:nvSpPr>
        <p:spPr>
          <a:xfrm>
            <a:off x="6583680" y="4156995"/>
            <a:ext cx="73152" cy="713232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9" name="Google Shape;289;p12"/>
          <p:cNvSpPr txBox="1"/>
          <p:nvPr/>
        </p:nvSpPr>
        <p:spPr>
          <a:xfrm>
            <a:off x="6766560" y="427024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False Negatives</a:t>
            </a:r>
          </a:p>
        </p:txBody>
      </p:sp>
      <p:sp>
        <p:nvSpPr>
          <p:cNvPr id="290" name="Google Shape;290;p12"/>
          <p:cNvSpPr txBox="1"/>
          <p:nvPr/>
        </p:nvSpPr>
        <p:spPr>
          <a:xfrm>
            <a:off x="6766560" y="4654296"/>
            <a:ext cx="4114800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b="1" dirty="0">
                <a:solidFill>
                  <a:srgbClr val="5B6673"/>
                </a:solidFill>
              </a:rPr>
              <a:t>Missed cancellations may still create empty rooms.</a:t>
            </a:r>
          </a:p>
        </p:txBody>
      </p:sp>
      <p:sp>
        <p:nvSpPr>
          <p:cNvPr id="291" name="Google Shape;291;p12"/>
          <p:cNvSpPr txBox="1"/>
          <p:nvPr/>
        </p:nvSpPr>
        <p:spPr>
          <a:xfrm>
            <a:off x="6675120" y="52303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1" dirty="0">
                <a:solidFill>
                  <a:srgbClr val="5B6673"/>
                </a:solidFill>
              </a:rPr>
              <a:t>Business takeaway: use predictions to prioritize outreach, protect revenue, and tune overbooking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 txBox="1"/>
          <p:nvPr/>
        </p:nvSpPr>
        <p:spPr>
          <a:xfrm>
            <a:off x="457200" y="200947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 dirty="0">
                <a:solidFill>
                  <a:srgbClr val="102A43"/>
                </a:solidFill>
              </a:rPr>
              <a:t>ROC-AUC: Strong Separation of Cancellation Risk</a:t>
            </a:r>
          </a:p>
        </p:txBody>
      </p:sp>
      <p:sp>
        <p:nvSpPr>
          <p:cNvPr id="297" name="Google Shape;297;p13"/>
          <p:cNvSpPr txBox="1"/>
          <p:nvPr/>
        </p:nvSpPr>
        <p:spPr>
          <a:xfrm>
            <a:off x="475488" y="73691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1" dirty="0">
                <a:solidFill>
                  <a:srgbClr val="5B6673"/>
                </a:solidFill>
              </a:rPr>
              <a:t>ROC-AUC measures how well the model ranks risky bookings ahead of lower-risk bookings.</a:t>
            </a:r>
          </a:p>
        </p:txBody>
      </p:sp>
      <p:sp>
        <p:nvSpPr>
          <p:cNvPr id="298" name="Google Shape;298;p13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9" name="Google Shape;299;p13"/>
          <p:cNvSpPr/>
          <p:nvPr/>
        </p:nvSpPr>
        <p:spPr>
          <a:xfrm>
            <a:off x="960120" y="1234440"/>
            <a:ext cx="5897880" cy="434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00" name="Google Shape;30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560" y="1325880"/>
            <a:ext cx="57150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3"/>
          <p:cNvSpPr txBox="1"/>
          <p:nvPr/>
        </p:nvSpPr>
        <p:spPr>
          <a:xfrm>
            <a:off x="1106424" y="5230368"/>
            <a:ext cx="56052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>
                <a:solidFill>
                  <a:srgbClr val="5B6673"/>
                </a:solidFill>
              </a:rPr>
              <a:t>Selected model: Random Forest</a:t>
            </a:r>
          </a:p>
        </p:txBody>
      </p:sp>
      <p:sp>
        <p:nvSpPr>
          <p:cNvPr id="302" name="Google Shape;302;p13"/>
          <p:cNvSpPr/>
          <p:nvPr/>
        </p:nvSpPr>
        <p:spPr>
          <a:xfrm>
            <a:off x="7452360" y="1920240"/>
            <a:ext cx="3611880" cy="224028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3" name="Google Shape;303;p13"/>
          <p:cNvSpPr txBox="1"/>
          <p:nvPr/>
        </p:nvSpPr>
        <p:spPr>
          <a:xfrm>
            <a:off x="7726679" y="233172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F6C85F"/>
                </a:solidFill>
              </a:rPr>
              <a:t>ROC-AUC = 0.94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7818120" y="297180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Strong discrimination supports earlier intervention and more confident occupancy forecasting.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 txBox="1"/>
          <p:nvPr/>
        </p:nvSpPr>
        <p:spPr>
          <a:xfrm>
            <a:off x="457200" y="256032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>
                <a:solidFill>
                  <a:srgbClr val="102A43"/>
                </a:solidFill>
              </a:rPr>
              <a:t>Feature Importance: What Drives Cancellation Risk</a:t>
            </a:r>
          </a:p>
        </p:txBody>
      </p:sp>
      <p:sp>
        <p:nvSpPr>
          <p:cNvPr id="310" name="Google Shape;310;p14"/>
          <p:cNvSpPr txBox="1"/>
          <p:nvPr/>
        </p:nvSpPr>
        <p:spPr>
          <a:xfrm>
            <a:off x="475488" y="75895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0">
                <a:solidFill>
                  <a:srgbClr val="5B6673"/>
                </a:solidFill>
              </a:rPr>
              <a:t>Important features show which booking signals should inform policy, outreach, and revenue management.</a:t>
            </a:r>
          </a:p>
        </p:txBody>
      </p:sp>
      <p:sp>
        <p:nvSpPr>
          <p:cNvPr id="311" name="Google Shape;311;p14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2" name="Google Shape;312;p14"/>
          <p:cNvSpPr/>
          <p:nvPr/>
        </p:nvSpPr>
        <p:spPr>
          <a:xfrm>
            <a:off x="594360" y="1188720"/>
            <a:ext cx="6583680" cy="452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13" name="Google Shape;31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280160"/>
            <a:ext cx="64008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4"/>
          <p:cNvSpPr txBox="1"/>
          <p:nvPr/>
        </p:nvSpPr>
        <p:spPr>
          <a:xfrm>
            <a:off x="740664" y="5367528"/>
            <a:ext cx="62910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800" b="0">
                <a:solidFill>
                  <a:srgbClr val="5B6673"/>
                </a:solidFill>
              </a:rPr>
              <a:t>Random Forest top feature importances</a:t>
            </a:r>
          </a:p>
        </p:txBody>
      </p:sp>
      <p:sp>
        <p:nvSpPr>
          <p:cNvPr id="315" name="Google Shape;315;p14"/>
          <p:cNvSpPr/>
          <p:nvPr/>
        </p:nvSpPr>
        <p:spPr>
          <a:xfrm>
            <a:off x="7589520" y="1600200"/>
            <a:ext cx="3703320" cy="32461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6" name="Google Shape;316;p14"/>
          <p:cNvSpPr txBox="1"/>
          <p:nvPr/>
        </p:nvSpPr>
        <p:spPr>
          <a:xfrm>
            <a:off x="7909560" y="19659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>
                <a:solidFill>
                  <a:srgbClr val="F6C85F"/>
                </a:solidFill>
              </a:rPr>
              <a:t>Business Interpretation</a:t>
            </a:r>
          </a:p>
        </p:txBody>
      </p:sp>
      <p:sp>
        <p:nvSpPr>
          <p:cNvPr id="317" name="Google Shape;317;p14"/>
          <p:cNvSpPr txBox="1"/>
          <p:nvPr/>
        </p:nvSpPr>
        <p:spPr>
          <a:xfrm>
            <a:off x="8001000" y="2606040"/>
            <a:ext cx="2880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</a:rPr>
              <a:t>Lead time is a key risk signal; average price may reflect price sensitivity; special requests can indicate stronger guest commitment.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"/>
          <p:cNvSpPr txBox="1"/>
          <p:nvPr/>
        </p:nvSpPr>
        <p:spPr>
          <a:xfrm>
            <a:off x="457200" y="46709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 dirty="0">
                <a:solidFill>
                  <a:srgbClr val="102A43"/>
                </a:solidFill>
              </a:rPr>
              <a:t>Business Recommendations: Turn Risk Scores into Action</a:t>
            </a:r>
          </a:p>
        </p:txBody>
      </p:sp>
      <p:sp>
        <p:nvSpPr>
          <p:cNvPr id="323" name="Google Shape;323;p15"/>
          <p:cNvSpPr txBox="1"/>
          <p:nvPr/>
        </p:nvSpPr>
        <p:spPr>
          <a:xfrm>
            <a:off x="475487" y="740001"/>
            <a:ext cx="8194788" cy="38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b="1" dirty="0">
                <a:solidFill>
                  <a:srgbClr val="5B6673"/>
                </a:solidFill>
              </a:rPr>
              <a:t>Use model outputs to reduce revenue leakage, improve occupancy planning, and guide guest engagement.</a:t>
            </a:r>
          </a:p>
        </p:txBody>
      </p:sp>
      <p:sp>
        <p:nvSpPr>
          <p:cNvPr id="324" name="Google Shape;324;p15"/>
          <p:cNvSpPr/>
          <p:nvPr/>
        </p:nvSpPr>
        <p:spPr>
          <a:xfrm>
            <a:off x="457200" y="1024128"/>
            <a:ext cx="960120" cy="4572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5" name="Google Shape;325;p15"/>
          <p:cNvSpPr/>
          <p:nvPr/>
        </p:nvSpPr>
        <p:spPr>
          <a:xfrm>
            <a:off x="777240" y="1508760"/>
            <a:ext cx="3154680" cy="329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6" name="Google Shape;326;p15"/>
          <p:cNvSpPr/>
          <p:nvPr/>
        </p:nvSpPr>
        <p:spPr>
          <a:xfrm>
            <a:off x="777240" y="1508760"/>
            <a:ext cx="73152" cy="3291840"/>
          </a:xfrm>
          <a:prstGeom prst="roundRect">
            <a:avLst>
              <a:gd name="adj" fmla="val 16667"/>
            </a:avLst>
          </a:prstGeom>
          <a:solidFill>
            <a:srgbClr val="0F8B8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7" name="Google Shape;327;p15"/>
          <p:cNvSpPr txBox="1"/>
          <p:nvPr/>
        </p:nvSpPr>
        <p:spPr>
          <a:xfrm>
            <a:off x="960120" y="165506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Long-lead bookings</a:t>
            </a:r>
          </a:p>
        </p:txBody>
      </p:sp>
      <p:sp>
        <p:nvSpPr>
          <p:cNvPr id="328" name="Google Shape;328;p15"/>
          <p:cNvSpPr txBox="1"/>
          <p:nvPr/>
        </p:nvSpPr>
        <p:spPr>
          <a:xfrm>
            <a:off x="960120" y="2039112"/>
            <a:ext cx="283464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5B6673"/>
                </a:solidFill>
              </a:rPr>
              <a:t>Long lead times increase cancellation risk.</a:t>
            </a:r>
          </a:p>
          <a:p>
            <a:r>
              <a:rPr lang="en-US" sz="1000" b="1" dirty="0">
                <a:solidFill>
                  <a:srgbClr val="5B6673"/>
                </a:solidFill>
              </a:rPr>
              <a:t>Action</a:t>
            </a:r>
          </a:p>
          <a:p>
            <a:r>
              <a:rPr lang="en-US" sz="1000" b="1" dirty="0">
                <a:solidFill>
                  <a:srgbClr val="5B6673"/>
                </a:solidFill>
              </a:rPr>
              <a:t>Send reminder emails or WhatsApp confirmations and offer small commitment incentives.</a:t>
            </a:r>
          </a:p>
        </p:txBody>
      </p:sp>
      <p:sp>
        <p:nvSpPr>
          <p:cNvPr id="329" name="Google Shape;329;p15"/>
          <p:cNvSpPr/>
          <p:nvPr/>
        </p:nvSpPr>
        <p:spPr>
          <a:xfrm>
            <a:off x="4480559" y="1508760"/>
            <a:ext cx="3154680" cy="329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0" name="Google Shape;330;p15"/>
          <p:cNvSpPr/>
          <p:nvPr/>
        </p:nvSpPr>
        <p:spPr>
          <a:xfrm>
            <a:off x="4480559" y="1508760"/>
            <a:ext cx="73152" cy="329184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1" name="Google Shape;331;p15"/>
          <p:cNvSpPr txBox="1"/>
          <p:nvPr/>
        </p:nvSpPr>
        <p:spPr>
          <a:xfrm>
            <a:off x="4663439" y="165506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Policy by risk level</a:t>
            </a:r>
          </a:p>
        </p:txBody>
      </p:sp>
      <p:sp>
        <p:nvSpPr>
          <p:cNvPr id="332" name="Google Shape;332;p15"/>
          <p:cNvSpPr txBox="1"/>
          <p:nvPr/>
        </p:nvSpPr>
        <p:spPr>
          <a:xfrm>
            <a:off x="4663439" y="2039112"/>
            <a:ext cx="283464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5B6673"/>
                </a:solidFill>
              </a:rPr>
              <a:t>Risk varies by guest signals, price, and commitment.</a:t>
            </a:r>
          </a:p>
          <a:p>
            <a:r>
              <a:rPr lang="en-US" sz="1000" b="1" dirty="0">
                <a:solidFill>
                  <a:srgbClr val="5B6673"/>
                </a:solidFill>
              </a:rPr>
              <a:t>Action</a:t>
            </a:r>
          </a:p>
          <a:p>
            <a:r>
              <a:rPr lang="en-US" sz="1000" b="1" dirty="0">
                <a:solidFill>
                  <a:srgbClr val="5B6673"/>
                </a:solidFill>
              </a:rPr>
              <a:t>Use flexible deposit or cancellation policies based on predicted risk level.</a:t>
            </a:r>
          </a:p>
        </p:txBody>
      </p:sp>
      <p:sp>
        <p:nvSpPr>
          <p:cNvPr id="333" name="Google Shape;333;p15"/>
          <p:cNvSpPr/>
          <p:nvPr/>
        </p:nvSpPr>
        <p:spPr>
          <a:xfrm>
            <a:off x="8183879" y="1508760"/>
            <a:ext cx="3154680" cy="329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4" name="Google Shape;334;p15"/>
          <p:cNvSpPr/>
          <p:nvPr/>
        </p:nvSpPr>
        <p:spPr>
          <a:xfrm>
            <a:off x="8183879" y="1508760"/>
            <a:ext cx="73152" cy="329184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5" name="Google Shape;335;p15"/>
          <p:cNvSpPr txBox="1"/>
          <p:nvPr/>
        </p:nvSpPr>
        <p:spPr>
          <a:xfrm>
            <a:off x="8366759" y="165506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solidFill>
                  <a:srgbClr val="102A43"/>
                </a:solidFill>
              </a:rPr>
              <a:t>Channel monitoring</a:t>
            </a:r>
          </a:p>
        </p:txBody>
      </p:sp>
      <p:sp>
        <p:nvSpPr>
          <p:cNvPr id="336" name="Google Shape;336;p15"/>
          <p:cNvSpPr txBox="1"/>
          <p:nvPr/>
        </p:nvSpPr>
        <p:spPr>
          <a:xfrm>
            <a:off x="8366759" y="2039112"/>
            <a:ext cx="283464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b="1" dirty="0">
                <a:solidFill>
                  <a:srgbClr val="5B6673"/>
                </a:solidFill>
              </a:rPr>
              <a:t>Some market segments and booking channels show higher cancellation patterns.</a:t>
            </a:r>
          </a:p>
          <a:p>
            <a:r>
              <a:rPr lang="en-US" sz="1000" b="1" dirty="0">
                <a:solidFill>
                  <a:srgbClr val="5B6673"/>
                </a:solidFill>
              </a:rPr>
              <a:t>Action</a:t>
            </a:r>
          </a:p>
          <a:p>
            <a:r>
              <a:rPr lang="en-US" sz="1000" b="1" dirty="0">
                <a:solidFill>
                  <a:srgbClr val="5B6673"/>
                </a:solidFill>
              </a:rPr>
              <a:t>Monitor high-risk channels and use risk scores to support revenue management and overbooking decisions.</a:t>
            </a:r>
          </a:p>
        </p:txBody>
      </p:sp>
      <p:sp>
        <p:nvSpPr>
          <p:cNvPr id="17" name="Google Shape;333;p15">
            <a:extLst>
              <a:ext uri="{FF2B5EF4-FFF2-40B4-BE49-F238E27FC236}">
                <a16:creationId xmlns:a16="http://schemas.microsoft.com/office/drawing/2014/main" id="{9EEFF61B-F471-4D4D-A39F-FA8CA753850A}"/>
              </a:ext>
            </a:extLst>
          </p:cNvPr>
          <p:cNvSpPr/>
          <p:nvPr/>
        </p:nvSpPr>
        <p:spPr>
          <a:xfrm>
            <a:off x="850392" y="4864608"/>
            <a:ext cx="10488167" cy="251210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E7588B-5DEB-4100-9C34-218B8D2DA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006" y="5186300"/>
            <a:ext cx="7935310" cy="19304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 txBox="1"/>
          <p:nvPr/>
        </p:nvSpPr>
        <p:spPr>
          <a:xfrm>
            <a:off x="731520" y="34151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Final Conclusion: Predictive Analytics for Better Hotel Planning</a:t>
            </a:r>
          </a:p>
        </p:txBody>
      </p:sp>
      <p:sp>
        <p:nvSpPr>
          <p:cNvPr id="342" name="Google Shape;342;p16"/>
          <p:cNvSpPr/>
          <p:nvPr/>
        </p:nvSpPr>
        <p:spPr>
          <a:xfrm>
            <a:off x="749808" y="1421729"/>
            <a:ext cx="1051560" cy="54864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3" name="Google Shape;343;p16"/>
          <p:cNvSpPr/>
          <p:nvPr/>
        </p:nvSpPr>
        <p:spPr>
          <a:xfrm>
            <a:off x="1005840" y="18288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4" name="Google Shape;344;p16"/>
          <p:cNvSpPr txBox="1"/>
          <p:nvPr/>
        </p:nvSpPr>
        <p:spPr>
          <a:xfrm>
            <a:off x="1325880" y="173736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</a:rPr>
              <a:t>Built an end-to-end machine learning pipeline</a:t>
            </a:r>
          </a:p>
        </p:txBody>
      </p:sp>
      <p:sp>
        <p:nvSpPr>
          <p:cNvPr id="345" name="Google Shape;345;p16"/>
          <p:cNvSpPr/>
          <p:nvPr/>
        </p:nvSpPr>
        <p:spPr>
          <a:xfrm>
            <a:off x="1005840" y="248716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6" name="Google Shape;346;p16"/>
          <p:cNvSpPr txBox="1"/>
          <p:nvPr/>
        </p:nvSpPr>
        <p:spPr>
          <a:xfrm>
            <a:off x="1325880" y="239572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</a:rPr>
              <a:t>Evaluated multiple models on the test set</a:t>
            </a:r>
          </a:p>
        </p:txBody>
      </p:sp>
      <p:sp>
        <p:nvSpPr>
          <p:cNvPr id="347" name="Google Shape;347;p16"/>
          <p:cNvSpPr/>
          <p:nvPr/>
        </p:nvSpPr>
        <p:spPr>
          <a:xfrm>
            <a:off x="1005840" y="314553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8" name="Google Shape;348;p16"/>
          <p:cNvSpPr txBox="1"/>
          <p:nvPr/>
        </p:nvSpPr>
        <p:spPr>
          <a:xfrm>
            <a:off x="1325880" y="3054096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</a:rPr>
              <a:t>Random Forest achieved 88% accuracy</a:t>
            </a:r>
          </a:p>
        </p:txBody>
      </p:sp>
      <p:sp>
        <p:nvSpPr>
          <p:cNvPr id="349" name="Google Shape;349;p16"/>
          <p:cNvSpPr/>
          <p:nvPr/>
        </p:nvSpPr>
        <p:spPr>
          <a:xfrm>
            <a:off x="1005840" y="380390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0" name="Google Shape;350;p16"/>
          <p:cNvSpPr txBox="1"/>
          <p:nvPr/>
        </p:nvSpPr>
        <p:spPr>
          <a:xfrm>
            <a:off x="1325880" y="3712464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</a:rPr>
              <a:t>ROC-AUC of 0.94 showed strong risk separation</a:t>
            </a:r>
          </a:p>
        </p:txBody>
      </p:sp>
      <p:sp>
        <p:nvSpPr>
          <p:cNvPr id="351" name="Google Shape;351;p16"/>
          <p:cNvSpPr/>
          <p:nvPr/>
        </p:nvSpPr>
        <p:spPr>
          <a:xfrm>
            <a:off x="1005840" y="446227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6C8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2" name="Google Shape;352;p16"/>
          <p:cNvSpPr txBox="1"/>
          <p:nvPr/>
        </p:nvSpPr>
        <p:spPr>
          <a:xfrm>
            <a:off x="1325880" y="4370831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</a:rPr>
              <a:t>Model can improve forecasting, reduce revenue leakage, and support staffing and overbooking decisions</a:t>
            </a:r>
          </a:p>
        </p:txBody>
      </p:sp>
      <p:sp>
        <p:nvSpPr>
          <p:cNvPr id="353" name="Google Shape;353;p16"/>
          <p:cNvSpPr/>
          <p:nvPr/>
        </p:nvSpPr>
        <p:spPr>
          <a:xfrm>
            <a:off x="8321040" y="1828800"/>
            <a:ext cx="2514600" cy="2011680"/>
          </a:xfrm>
          <a:prstGeom prst="roundRect">
            <a:avLst>
              <a:gd name="adj" fmla="val 16667"/>
            </a:avLst>
          </a:prstGeom>
          <a:solidFill>
            <a:srgbClr val="FFFFFF">
              <a:alpha val="12941"/>
            </a:srgbClr>
          </a:solidFill>
          <a:ln w="12700" cap="flat" cmpd="sng">
            <a:solidFill>
              <a:srgbClr val="7890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4" name="Google Shape;354;p16"/>
          <p:cNvSpPr txBox="1"/>
          <p:nvPr/>
        </p:nvSpPr>
        <p:spPr>
          <a:xfrm>
            <a:off x="8549640" y="214884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300" b="0">
                <a:solidFill>
                  <a:srgbClr val="D7E7EE"/>
                </a:solidFill>
              </a:rPr>
              <a:t>Best Model</a:t>
            </a:r>
          </a:p>
        </p:txBody>
      </p:sp>
      <p:sp>
        <p:nvSpPr>
          <p:cNvPr id="355" name="Google Shape;355;p16"/>
          <p:cNvSpPr txBox="1"/>
          <p:nvPr/>
        </p:nvSpPr>
        <p:spPr>
          <a:xfrm>
            <a:off x="8549640" y="2542032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500" b="1">
                <a:solidFill>
                  <a:srgbClr val="F6C85F"/>
                </a:solidFill>
              </a:rPr>
              <a:t>Random</a:t>
            </a:r>
          </a:p>
          <a:p>
            <a:r>
              <a:rPr lang="en-US" sz="2500" b="1">
                <a:solidFill>
                  <a:srgbClr val="F6C85F"/>
                </a:solidFill>
              </a:rPr>
              <a:t>Forest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Theme">
  <a:themeElements>
    <a:clrScheme name="Codex">
      <a:dk1>
        <a:srgbClr val="18212B"/>
      </a:dk1>
      <a:lt1>
        <a:srgbClr val="FFFFFF"/>
      </a:lt1>
      <a:dk2>
        <a:srgbClr val="102A43"/>
      </a:dk2>
      <a:lt2>
        <a:srgbClr val="F7F9FB"/>
      </a:lt2>
      <a:accent1>
        <a:srgbClr val="0F8B8D"/>
      </a:accent1>
      <a:accent2>
        <a:srgbClr val="F6C85F"/>
      </a:accent2>
      <a:accent3>
        <a:srgbClr val="E76F51"/>
      </a:accent3>
      <a:accent4>
        <a:srgbClr val="2F80ED"/>
      </a:accent4>
      <a:accent5>
        <a:srgbClr val="2EAD6B"/>
      </a:accent5>
      <a:accent6>
        <a:srgbClr val="5B6673"/>
      </a:accent6>
      <a:hlink>
        <a:srgbClr val="2F80ED"/>
      </a:hlink>
      <a:folHlink>
        <a:srgbClr val="0F8B8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940</Words>
  <Application>Microsoft Office PowerPoint</Application>
  <PresentationFormat>Custom</PresentationFormat>
  <Paragraphs>188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Bell MT</vt:lpstr>
      <vt:lpstr>Georgia</vt:lpstr>
      <vt:lpstr>CodexTheme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sadiq momodu</dc:creator>
  <cp:lastModifiedBy>sadiq momodu</cp:lastModifiedBy>
  <cp:revision>11</cp:revision>
  <dcterms:modified xsi:type="dcterms:W3CDTF">2026-05-26T01:09:38Z</dcterms:modified>
</cp:coreProperties>
</file>